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14748350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5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55C3A-EC11-431D-9F5A-0E910C9877C5}" v="38" dt="2026-07-06T08:04:19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Kumar" userId="5c324c8c-e592-4ada-8d17-0114858f22c8" providerId="ADAL" clId="{BCD120B8-6923-49C3-995D-FEF540627F7A}"/>
    <pc:docChg chg="undo custSel modSld">
      <pc:chgData name="Mayank Kumar" userId="5c324c8c-e592-4ada-8d17-0114858f22c8" providerId="ADAL" clId="{BCD120B8-6923-49C3-995D-FEF540627F7A}" dt="2026-07-06T08:04:40.633" v="624" actId="6549"/>
      <pc:docMkLst>
        <pc:docMk/>
      </pc:docMkLst>
      <pc:sldChg chg="modSp mod">
        <pc:chgData name="Mayank Kumar" userId="5c324c8c-e592-4ada-8d17-0114858f22c8" providerId="ADAL" clId="{BCD120B8-6923-49C3-995D-FEF540627F7A}" dt="2026-07-06T04:00:50.216" v="19" actId="20577"/>
        <pc:sldMkLst>
          <pc:docMk/>
          <pc:sldMk cId="0" sldId="260"/>
        </pc:sldMkLst>
        <pc:spChg chg="mod">
          <ac:chgData name="Mayank Kumar" userId="5c324c8c-e592-4ada-8d17-0114858f22c8" providerId="ADAL" clId="{BCD120B8-6923-49C3-995D-FEF540627F7A}" dt="2026-07-06T04:00:50.216" v="19" actId="20577"/>
          <ac:spMkLst>
            <pc:docMk/>
            <pc:sldMk cId="0" sldId="260"/>
            <ac:spMk id="27" creationId="{00000000-0000-0000-0000-000000000000}"/>
          </ac:spMkLst>
        </pc:spChg>
      </pc:sldChg>
      <pc:sldChg chg="addSp modSp mod">
        <pc:chgData name="Mayank Kumar" userId="5c324c8c-e592-4ada-8d17-0114858f22c8" providerId="ADAL" clId="{BCD120B8-6923-49C3-995D-FEF540627F7A}" dt="2026-07-06T07:53:29.473" v="537" actId="255"/>
        <pc:sldMkLst>
          <pc:docMk/>
          <pc:sldMk cId="0" sldId="262"/>
        </pc:sldMkLst>
        <pc:spChg chg="mod">
          <ac:chgData name="Mayank Kumar" userId="5c324c8c-e592-4ada-8d17-0114858f22c8" providerId="ADAL" clId="{BCD120B8-6923-49C3-995D-FEF540627F7A}" dt="2026-07-06T05:54:16.697" v="5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7:53:29.473" v="537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6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1:50.963" v="62" actId="164"/>
          <ac:spMkLst>
            <pc:docMk/>
            <pc:sldMk cId="0" sldId="262"/>
            <ac:spMk id="28" creationId="{00000000-0000-0000-0000-000000000000}"/>
          </ac:spMkLst>
        </pc:spChg>
        <pc:grpChg chg="add mod">
          <ac:chgData name="Mayank Kumar" userId="5c324c8c-e592-4ada-8d17-0114858f22c8" providerId="ADAL" clId="{BCD120B8-6923-49C3-995D-FEF540627F7A}" dt="2026-07-06T06:01:54.350" v="83" actId="1036"/>
          <ac:grpSpMkLst>
            <pc:docMk/>
            <pc:sldMk cId="0" sldId="262"/>
            <ac:grpSpMk id="30" creationId="{1AE56E83-F556-E508-3A92-A535313677C6}"/>
          </ac:grpSpMkLst>
        </pc:grpChg>
      </pc:sldChg>
      <pc:sldChg chg="addSp modSp mod">
        <pc:chgData name="Mayank Kumar" userId="5c324c8c-e592-4ada-8d17-0114858f22c8" providerId="ADAL" clId="{BCD120B8-6923-49C3-995D-FEF540627F7A}" dt="2026-07-06T08:01:06.709" v="596" actId="14100"/>
        <pc:sldMkLst>
          <pc:docMk/>
          <pc:sldMk cId="0" sldId="263"/>
        </pc:sldMkLst>
        <pc:spChg chg="mod">
          <ac:chgData name="Mayank Kumar" userId="5c324c8c-e592-4ada-8d17-0114858f22c8" providerId="ADAL" clId="{BCD120B8-6923-49C3-995D-FEF540627F7A}" dt="2026-07-06T06:05:42.256" v="170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5:19.933" v="152" actId="20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4:07.610" v="126" actId="12"/>
          <ac:spMkLst>
            <pc:docMk/>
            <pc:sldMk cId="0" sldId="263"/>
            <ac:spMk id="3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3:36.563" v="103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3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2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8:27.903" v="246" actId="207"/>
          <ac:spMkLst>
            <pc:docMk/>
            <pc:sldMk cId="0" sldId="263"/>
            <ac:spMk id="46" creationId="{00000000-0000-0000-0000-000000000000}"/>
          </ac:spMkLst>
        </pc:spChg>
        <pc:spChg chg="add mod">
          <ac:chgData name="Mayank Kumar" userId="5c324c8c-e592-4ada-8d17-0114858f22c8" providerId="ADAL" clId="{BCD120B8-6923-49C3-995D-FEF540627F7A}" dt="2026-07-06T08:01:06.709" v="596" actId="14100"/>
          <ac:spMkLst>
            <pc:docMk/>
            <pc:sldMk cId="0" sldId="263"/>
            <ac:spMk id="50" creationId="{AECBF3CB-AFF3-7314-4574-4A582279B5EE}"/>
          </ac:spMkLst>
        </pc:spChg>
        <pc:spChg chg="add mod">
          <ac:chgData name="Mayank Kumar" userId="5c324c8c-e592-4ada-8d17-0114858f22c8" providerId="ADAL" clId="{BCD120B8-6923-49C3-995D-FEF540627F7A}" dt="2026-07-06T07:55:41.994" v="570" actId="113"/>
          <ac:spMkLst>
            <pc:docMk/>
            <pc:sldMk cId="0" sldId="263"/>
            <ac:spMk id="51" creationId="{BF3E762A-4EA9-C61A-64DE-932C318EFC5F}"/>
          </ac:spMkLst>
        </pc:spChg>
        <pc:spChg chg="add mod ord">
          <ac:chgData name="Mayank Kumar" userId="5c324c8c-e592-4ada-8d17-0114858f22c8" providerId="ADAL" clId="{BCD120B8-6923-49C3-995D-FEF540627F7A}" dt="2026-07-06T07:56:01.170" v="573" actId="167"/>
          <ac:spMkLst>
            <pc:docMk/>
            <pc:sldMk cId="0" sldId="263"/>
            <ac:spMk id="53" creationId="{B5FACE0E-8B56-5481-DDF6-E85406D199A0}"/>
          </ac:spMkLst>
        </pc:spChg>
        <pc:spChg chg="add mod">
          <ac:chgData name="Mayank Kumar" userId="5c324c8c-e592-4ada-8d17-0114858f22c8" providerId="ADAL" clId="{BCD120B8-6923-49C3-995D-FEF540627F7A}" dt="2026-07-06T08:00:54.738" v="595" actId="20577"/>
          <ac:spMkLst>
            <pc:docMk/>
            <pc:sldMk cId="0" sldId="263"/>
            <ac:spMk id="55" creationId="{75B9D8DF-63BE-0D27-22D4-657871544837}"/>
          </ac:spMkLst>
        </pc:spChg>
        <pc:grpChg chg="add mod">
          <ac:chgData name="Mayank Kumar" userId="5c324c8c-e592-4ada-8d17-0114858f22c8" providerId="ADAL" clId="{BCD120B8-6923-49C3-995D-FEF540627F7A}" dt="2026-07-06T06:08:30.369" v="253" actId="1036"/>
          <ac:grpSpMkLst>
            <pc:docMk/>
            <pc:sldMk cId="0" sldId="263"/>
            <ac:grpSpMk id="48" creationId="{BE9F549F-24D8-6496-2EF8-2F40BDE340B2}"/>
          </ac:grpSpMkLst>
        </pc:grpChg>
        <pc:picChg chg="mod">
          <ac:chgData name="Mayank Kumar" userId="5c324c8c-e592-4ada-8d17-0114858f22c8" providerId="ADAL" clId="{BCD120B8-6923-49C3-995D-FEF540627F7A}" dt="2026-07-06T07:54:27.401" v="538" actId="14100"/>
          <ac:picMkLst>
            <pc:docMk/>
            <pc:sldMk cId="0" sldId="263"/>
            <ac:picMk id="38" creationId="{00000000-0000-0000-0000-000000000000}"/>
          </ac:picMkLst>
        </pc:picChg>
      </pc:sldChg>
      <pc:sldChg chg="addSp modSp mod">
        <pc:chgData name="Mayank Kumar" userId="5c324c8c-e592-4ada-8d17-0114858f22c8" providerId="ADAL" clId="{BCD120B8-6923-49C3-995D-FEF540627F7A}" dt="2026-07-06T06:11:27.089" v="333" actId="20577"/>
        <pc:sldMkLst>
          <pc:docMk/>
          <pc:sldMk cId="0" sldId="264"/>
        </pc:sldMkLst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0:06.838" v="326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09:55.224" v="282" actId="164"/>
          <ac:spMkLst>
            <pc:docMk/>
            <pc:sldMk cId="0" sldId="264"/>
            <ac:spMk id="3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1:27.089" v="333" actId="20577"/>
          <ac:spMkLst>
            <pc:docMk/>
            <pc:sldMk cId="0" sldId="264"/>
            <ac:spMk id="38" creationId="{00000000-0000-0000-0000-000000000000}"/>
          </ac:spMkLst>
        </pc:spChg>
        <pc:grpChg chg="add mod">
          <ac:chgData name="Mayank Kumar" userId="5c324c8c-e592-4ada-8d17-0114858f22c8" providerId="ADAL" clId="{BCD120B8-6923-49C3-995D-FEF540627F7A}" dt="2026-07-06T06:11:21.317" v="332" actId="14100"/>
          <ac:grpSpMkLst>
            <pc:docMk/>
            <pc:sldMk cId="0" sldId="264"/>
            <ac:grpSpMk id="40" creationId="{0C8DEF49-5D41-02B6-A732-5958BAB76DB3}"/>
          </ac:grpSpMkLst>
        </pc:grpChg>
        <pc:grpChg chg="mod">
          <ac:chgData name="Mayank Kumar" userId="5c324c8c-e592-4ada-8d17-0114858f22c8" providerId="ADAL" clId="{BCD120B8-6923-49C3-995D-FEF540627F7A}" dt="2026-07-06T06:10:10.804" v="327" actId="14100"/>
          <ac:grpSpMkLst>
            <pc:docMk/>
            <pc:sldMk cId="0" sldId="264"/>
            <ac:grpSpMk id="41" creationId="{A6504031-31CB-611D-0479-553CED6D3488}"/>
          </ac:grpSpMkLst>
        </pc:grpChg>
      </pc:sldChg>
      <pc:sldChg chg="addSp delSp modSp mod">
        <pc:chgData name="Mayank Kumar" userId="5c324c8c-e592-4ada-8d17-0114858f22c8" providerId="ADAL" clId="{BCD120B8-6923-49C3-995D-FEF540627F7A}" dt="2026-07-06T08:03:15.034" v="616" actId="20577"/>
        <pc:sldMkLst>
          <pc:docMk/>
          <pc:sldMk cId="0" sldId="265"/>
        </pc:sldMkLst>
        <pc:spChg chg="mod">
          <ac:chgData name="Mayank Kumar" userId="5c324c8c-e592-4ada-8d17-0114858f22c8" providerId="ADAL" clId="{BCD120B8-6923-49C3-995D-FEF540627F7A}" dt="2026-07-06T06:15:24.567" v="394" actId="103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3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3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38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3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2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13:14.236" v="334" actId="164"/>
          <ac:spMkLst>
            <pc:docMk/>
            <pc:sldMk cId="0" sldId="265"/>
            <ac:spMk id="47" creationId="{00000000-0000-0000-0000-000000000000}"/>
          </ac:spMkLst>
        </pc:spChg>
        <pc:spChg chg="add del mod">
          <ac:chgData name="Mayank Kumar" userId="5c324c8c-e592-4ada-8d17-0114858f22c8" providerId="ADAL" clId="{BCD120B8-6923-49C3-995D-FEF540627F7A}" dt="2026-07-06T08:03:15.034" v="616" actId="20577"/>
          <ac:spMkLst>
            <pc:docMk/>
            <pc:sldMk cId="0" sldId="265"/>
            <ac:spMk id="4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8:02:36.326" v="602" actId="21"/>
          <ac:spMkLst>
            <pc:docMk/>
            <pc:sldMk cId="0" sldId="265"/>
            <ac:spMk id="50" creationId="{00000000-0000-0000-0000-000000000000}"/>
          </ac:spMkLst>
        </pc:spChg>
        <pc:spChg chg="add mod">
          <ac:chgData name="Mayank Kumar" userId="5c324c8c-e592-4ada-8d17-0114858f22c8" providerId="ADAL" clId="{BCD120B8-6923-49C3-995D-FEF540627F7A}" dt="2026-07-06T06:15:09.859" v="375" actId="1036"/>
          <ac:spMkLst>
            <pc:docMk/>
            <pc:sldMk cId="0" sldId="265"/>
            <ac:spMk id="54" creationId="{E372C9F6-57C3-5C4C-D1D5-0A93090B812F}"/>
          </ac:spMkLst>
        </pc:spChg>
        <pc:grpChg chg="mod">
          <ac:chgData name="Mayank Kumar" userId="5c324c8c-e592-4ada-8d17-0114858f22c8" providerId="ADAL" clId="{BCD120B8-6923-49C3-995D-FEF540627F7A}" dt="2026-07-06T06:15:24.567" v="394" actId="1036"/>
          <ac:grpSpMkLst>
            <pc:docMk/>
            <pc:sldMk cId="0" sldId="265"/>
            <ac:grpSpMk id="52" creationId="{028B83A8-37F0-2B5F-FB73-5DCB410B6561}"/>
          </ac:grpSpMkLst>
        </pc:grpChg>
      </pc:sldChg>
      <pc:sldChg chg="addSp modSp mod">
        <pc:chgData name="Mayank Kumar" userId="5c324c8c-e592-4ada-8d17-0114858f22c8" providerId="ADAL" clId="{BCD120B8-6923-49C3-995D-FEF540627F7A}" dt="2026-07-06T06:46:11.373" v="527" actId="403"/>
        <pc:sldMkLst>
          <pc:docMk/>
          <pc:sldMk cId="0" sldId="266"/>
        </pc:sldMkLst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1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2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2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28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3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32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36.602" v="462" actId="164"/>
          <ac:spMkLst>
            <pc:docMk/>
            <pc:sldMk cId="0" sldId="266"/>
            <ac:spMk id="3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00.495" v="421" actId="164"/>
          <ac:spMkLst>
            <pc:docMk/>
            <pc:sldMk cId="0" sldId="266"/>
            <ac:spMk id="3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29:16.051" v="423" actId="108"/>
          <ac:spMkLst>
            <pc:docMk/>
            <pc:sldMk cId="0" sldId="266"/>
            <ac:spMk id="38" creationId="{00000000-0000-0000-0000-000000000000}"/>
          </ac:spMkLst>
        </pc:spChg>
        <pc:spChg chg="add mod">
          <ac:chgData name="Mayank Kumar" userId="5c324c8c-e592-4ada-8d17-0114858f22c8" providerId="ADAL" clId="{BCD120B8-6923-49C3-995D-FEF540627F7A}" dt="2026-07-06T06:46:11.373" v="527" actId="403"/>
          <ac:spMkLst>
            <pc:docMk/>
            <pc:sldMk cId="0" sldId="266"/>
            <ac:spMk id="43" creationId="{B0D2689A-7E71-7D77-1C5D-BBF3D2A4F184}"/>
          </ac:spMkLst>
        </pc:spChg>
        <pc:grpChg chg="add mod">
          <ac:chgData name="Mayank Kumar" userId="5c324c8c-e592-4ada-8d17-0114858f22c8" providerId="ADAL" clId="{BCD120B8-6923-49C3-995D-FEF540627F7A}" dt="2026-07-06T06:45:14.868" v="517" actId="14100"/>
          <ac:grpSpMkLst>
            <pc:docMk/>
            <pc:sldMk cId="0" sldId="266"/>
            <ac:grpSpMk id="40" creationId="{A443C4ED-A251-8B22-6109-8CC43B167082}"/>
          </ac:grpSpMkLst>
        </pc:grpChg>
        <pc:grpChg chg="mod">
          <ac:chgData name="Mayank Kumar" userId="5c324c8c-e592-4ada-8d17-0114858f22c8" providerId="ADAL" clId="{BCD120B8-6923-49C3-995D-FEF540627F7A}" dt="2026-07-06T06:45:29.618" v="520" actId="1076"/>
          <ac:grpSpMkLst>
            <pc:docMk/>
            <pc:sldMk cId="0" sldId="266"/>
            <ac:grpSpMk id="41" creationId="{2CEBEF90-EB0D-0E2B-D717-E3461132368D}"/>
          </ac:grpSpMkLst>
        </pc:grpChg>
      </pc:sldChg>
      <pc:sldChg chg="addSp modSp mod">
        <pc:chgData name="Mayank Kumar" userId="5c324c8c-e592-4ada-8d17-0114858f22c8" providerId="ADAL" clId="{BCD120B8-6923-49C3-995D-FEF540627F7A}" dt="2026-07-06T06:35:06.018" v="516" actId="20577"/>
        <pc:sldMkLst>
          <pc:docMk/>
          <pc:sldMk cId="0" sldId="267"/>
        </pc:sldMkLst>
        <pc:spChg chg="mod">
          <ac:chgData name="Mayank Kumar" userId="5c324c8c-e592-4ada-8d17-0114858f22c8" providerId="ADAL" clId="{BCD120B8-6923-49C3-995D-FEF540627F7A}" dt="2026-07-06T06:35:06.018" v="516" actId="20577"/>
          <ac:spMkLst>
            <pc:docMk/>
            <pc:sldMk cId="0" sldId="267"/>
            <ac:spMk id="29" creationId="{00000000-0000-0000-0000-000000000000}"/>
          </ac:spMkLst>
        </pc:spChg>
        <pc:spChg chg="add mod">
          <ac:chgData name="Mayank Kumar" userId="5c324c8c-e592-4ada-8d17-0114858f22c8" providerId="ADAL" clId="{BCD120B8-6923-49C3-995D-FEF540627F7A}" dt="2026-07-06T06:33:48.659" v="495" actId="20577"/>
          <ac:spMkLst>
            <pc:docMk/>
            <pc:sldMk cId="0" sldId="267"/>
            <ac:spMk id="32" creationId="{BEBEE017-8A86-E0EE-273B-6AC624EBBD26}"/>
          </ac:spMkLst>
        </pc:spChg>
      </pc:sldChg>
      <pc:sldChg chg="modSp mod">
        <pc:chgData name="Mayank Kumar" userId="5c324c8c-e592-4ada-8d17-0114858f22c8" providerId="ADAL" clId="{BCD120B8-6923-49C3-995D-FEF540627F7A}" dt="2026-07-06T08:04:40.633" v="624" actId="6549"/>
        <pc:sldMkLst>
          <pc:docMk/>
          <pc:sldMk cId="0" sldId="270"/>
        </pc:sldMkLst>
        <pc:spChg chg="mod">
          <ac:chgData name="Mayank Kumar" userId="5c324c8c-e592-4ada-8d17-0114858f22c8" providerId="ADAL" clId="{BCD120B8-6923-49C3-995D-FEF540627F7A}" dt="2026-07-06T06:30:42.619" v="467" actId="113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00.889" v="469" actId="403"/>
          <ac:spMkLst>
            <pc:docMk/>
            <pc:sldMk cId="0" sldId="270"/>
            <ac:spMk id="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8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9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00.889" v="469" actId="403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4:33:18.891" v="21" actId="20577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00.889" v="469" actId="40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20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6:31:28.980" v="472" actId="404"/>
          <ac:spMkLst>
            <pc:docMk/>
            <pc:sldMk cId="0" sldId="270"/>
            <ac:spMk id="21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8:04:30.907" v="623" actId="14100"/>
          <ac:spMkLst>
            <pc:docMk/>
            <pc:sldMk cId="0" sldId="270"/>
            <ac:spMk id="22" creationId="{00000000-0000-0000-0000-000000000000}"/>
          </ac:spMkLst>
        </pc:spChg>
        <pc:spChg chg="mod">
          <ac:chgData name="Mayank Kumar" userId="5c324c8c-e592-4ada-8d17-0114858f22c8" providerId="ADAL" clId="{BCD120B8-6923-49C3-995D-FEF540627F7A}" dt="2026-07-06T08:04:40.633" v="624" actId="6549"/>
          <ac:spMkLst>
            <pc:docMk/>
            <pc:sldMk cId="0" sldId="27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46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27C5-7737-FA44-BBC1-E927B5B7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131C4-8124-5F91-8957-325DFE611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9E2F9-8F91-C372-82CF-1E0FECBFD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9C472-7E1C-F93F-EC3C-7C334D2A8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897D7-D6CB-4CEE-9166-C28E059D496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087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52241C1-FE61-A4BB-A900-2122B7A3A8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94441" y="336080"/>
            <a:ext cx="877755" cy="2125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46202C-1C2A-E4C1-96BA-3875B21EDE2B}"/>
              </a:ext>
            </a:extLst>
          </p:cNvPr>
          <p:cNvPicPr/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44" r="20880" b="8178"/>
          <a:stretch/>
        </p:blipFill>
        <p:spPr>
          <a:xfrm rot="1730396">
            <a:off x="2126304" y="1401668"/>
            <a:ext cx="10171117" cy="8215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AEEE91-A579-2C86-5B53-AD11A8BCB9A1}"/>
              </a:ext>
            </a:extLst>
          </p:cNvPr>
          <p:cNvPicPr/>
          <p:nvPr userDrawn="1"/>
        </p:nvPicPr>
        <p:blipFill rotWithShape="1">
          <a:blip r:embed="rId3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44" r="20880" b="8178"/>
          <a:stretch/>
        </p:blipFill>
        <p:spPr>
          <a:xfrm rot="12664875">
            <a:off x="-866801" y="-1707567"/>
            <a:ext cx="5556045" cy="49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1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jpeg"/><Relationship Id="rId20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svg"/><Relationship Id="rId27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shekprabudha.github.io/Account-Payables-Co-pilo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jp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hell_build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40680"/>
            <a:ext cx="6949440" cy="141732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54406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FD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Introduction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62362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6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x AIONOS: AI-led operations transformation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454335" y="292608"/>
            <a:ext cx="14173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063" y="384048"/>
            <a:ext cx="118872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ve_l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AIONOS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we are, what we have built, and how we deliver applied AI at enterprise scale</a:t>
            </a:r>
            <a:endParaRPr lang="en-US" sz="1400" dirty="0"/>
          </a:p>
        </p:txBody>
      </p:sp>
      <p:pic>
        <p:nvPicPr>
          <p:cNvPr id="7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D480-A5C8-708E-CFFB-A1FDFFFC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C6E54AF-3FE8-BF54-4109-0BFAA111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399" y="1157676"/>
            <a:ext cx="2159001" cy="1238391"/>
          </a:xfrm>
          <a:prstGeom prst="roundRect">
            <a:avLst/>
          </a:prstGeom>
          <a:noFill/>
          <a:ln w="9525">
            <a:solidFill>
              <a:srgbClr val="0C66E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>
                <a:ln>
                  <a:noFill/>
                </a:ln>
                <a:solidFill>
                  <a:srgbClr val="2254C5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6+ </a:t>
            </a:r>
            <a:br>
              <a:rPr kumimoji="0" lang="en-US" sz="12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sz="14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Countries and counting, giving us a truly global presence​</a:t>
            </a:r>
            <a:endParaRPr kumimoji="0" lang="en-IN" sz="120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9179E3F-0FEC-4B3D-C8C9-D22D7E4CF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34889"/>
            <a:ext cx="4667865" cy="968675"/>
          </a:xfrm>
          <a:prstGeom prst="roundRect">
            <a:avLst/>
          </a:prstGeom>
          <a:noFill/>
          <a:ln w="9525">
            <a:solidFill>
              <a:srgbClr val="0C66E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2000" b="1" kern="100">
                <a:solidFill>
                  <a:srgbClr val="2254C5"/>
                </a:solidFill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1" i="0" u="none" strike="noStrike" kern="100" cap="none" spc="0" normalizeH="0" baseline="0" noProof="0">
                <a:ln>
                  <a:noFill/>
                </a:ln>
                <a:solidFill>
                  <a:srgbClr val="2254C5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000+</a:t>
            </a:r>
            <a:r>
              <a:rPr kumimoji="0" lang="en-US" sz="12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kumimoji="0" lang="en-US" sz="12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sz="14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Domain led technical experts </a:t>
            </a: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driving impact &amp;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innovation</a:t>
            </a: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</a:t>
            </a:r>
            <a:endParaRPr kumimoji="0" lang="en-IN" sz="120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BC5DD33-615E-4FF0-5342-0759247AE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545" y="1157675"/>
            <a:ext cx="2356720" cy="1238391"/>
          </a:xfrm>
          <a:prstGeom prst="roundRect">
            <a:avLst/>
          </a:prstGeom>
          <a:noFill/>
          <a:ln w="9525">
            <a:solidFill>
              <a:srgbClr val="0C66E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00" cap="none" spc="0" normalizeH="0" baseline="0" noProof="0">
                <a:ln>
                  <a:noFill/>
                </a:ln>
                <a:solidFill>
                  <a:srgbClr val="2254C5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35+</a:t>
            </a:r>
            <a:r>
              <a:rPr kumimoji="0" lang="en-US" sz="12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br>
              <a:rPr kumimoji="0" lang="en-US" sz="12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sz="14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Times New Roman" panose="02020603050405020304" pitchFamily="18" charset="0"/>
              </a:rPr>
              <a:t>Years of aviation &amp; travel tech excellence ​</a:t>
            </a:r>
            <a:r>
              <a:rPr kumimoji="0" lang="en-US" sz="14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Arial" panose="020B0604020202020204" pitchFamily="34" charset="0"/>
              </a:rPr>
              <a:t>as part of the </a:t>
            </a:r>
            <a:r>
              <a:rPr kumimoji="0" lang="en-US" sz="1400" i="0" u="none" strike="noStrike" kern="1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Arial" panose="020B0604020202020204" pitchFamily="34" charset="0"/>
              </a:rPr>
              <a:t>InterGlobe</a:t>
            </a:r>
            <a:r>
              <a:rPr kumimoji="0" lang="en-US" sz="140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Aptos" panose="020B0004020202020204" pitchFamily="34" charset="0"/>
                <a:cs typeface="Arial" panose="020B0604020202020204" pitchFamily="34" charset="0"/>
              </a:rPr>
              <a:t> Group</a:t>
            </a:r>
            <a:endParaRPr kumimoji="0" lang="en-IN" sz="120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A2A80-C573-BCAE-13AD-C49C84F69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30" y="1088024"/>
            <a:ext cx="6828169" cy="3909260"/>
          </a:xfrm>
          <a:prstGeom prst="rect">
            <a:avLst/>
          </a:prstGeom>
        </p:spPr>
      </p:pic>
      <p:sp>
        <p:nvSpPr>
          <p:cNvPr id="23" name="object 9">
            <a:extLst>
              <a:ext uri="{FF2B5EF4-FFF2-40B4-BE49-F238E27FC236}">
                <a16:creationId xmlns:a16="http://schemas.microsoft.com/office/drawing/2014/main" id="{A77083E6-130E-F503-1D85-59A9BFA025AA}"/>
              </a:ext>
            </a:extLst>
          </p:cNvPr>
          <p:cNvSpPr>
            <a:spLocks/>
          </p:cNvSpPr>
          <p:nvPr/>
        </p:nvSpPr>
        <p:spPr>
          <a:xfrm>
            <a:off x="7893378" y="685707"/>
            <a:ext cx="1845320" cy="336919"/>
          </a:xfrm>
          <a:custGeom>
            <a:avLst/>
            <a:gdLst/>
            <a:ahLst/>
            <a:cxnLst/>
            <a:rect l="l" t="t" r="r" b="b"/>
            <a:pathLst>
              <a:path w="1440180" h="817879">
                <a:moveTo>
                  <a:pt x="1303820" y="0"/>
                </a:moveTo>
                <a:lnTo>
                  <a:pt x="136245" y="0"/>
                </a:lnTo>
                <a:lnTo>
                  <a:pt x="93181" y="6942"/>
                </a:lnTo>
                <a:lnTo>
                  <a:pt x="55780" y="26277"/>
                </a:lnTo>
                <a:lnTo>
                  <a:pt x="26287" y="55769"/>
                </a:lnTo>
                <a:lnTo>
                  <a:pt x="6945" y="93179"/>
                </a:lnTo>
                <a:lnTo>
                  <a:pt x="0" y="136270"/>
                </a:lnTo>
                <a:lnTo>
                  <a:pt x="0" y="681227"/>
                </a:lnTo>
                <a:lnTo>
                  <a:pt x="6945" y="724319"/>
                </a:lnTo>
                <a:lnTo>
                  <a:pt x="26287" y="761729"/>
                </a:lnTo>
                <a:lnTo>
                  <a:pt x="55780" y="791221"/>
                </a:lnTo>
                <a:lnTo>
                  <a:pt x="93181" y="810556"/>
                </a:lnTo>
                <a:lnTo>
                  <a:pt x="136245" y="817498"/>
                </a:lnTo>
                <a:lnTo>
                  <a:pt x="1303820" y="817498"/>
                </a:lnTo>
                <a:lnTo>
                  <a:pt x="1346849" y="810556"/>
                </a:lnTo>
                <a:lnTo>
                  <a:pt x="1384222" y="791221"/>
                </a:lnTo>
                <a:lnTo>
                  <a:pt x="1413694" y="761729"/>
                </a:lnTo>
                <a:lnTo>
                  <a:pt x="1433022" y="724319"/>
                </a:lnTo>
                <a:lnTo>
                  <a:pt x="1439964" y="681227"/>
                </a:lnTo>
                <a:lnTo>
                  <a:pt x="1439964" y="136270"/>
                </a:lnTo>
                <a:lnTo>
                  <a:pt x="1433022" y="93179"/>
                </a:lnTo>
                <a:lnTo>
                  <a:pt x="1413694" y="55769"/>
                </a:lnTo>
                <a:lnTo>
                  <a:pt x="1384222" y="26277"/>
                </a:lnTo>
                <a:lnTo>
                  <a:pt x="1346849" y="6942"/>
                </a:lnTo>
                <a:lnTo>
                  <a:pt x="1303820" y="0"/>
                </a:lnTo>
                <a:close/>
              </a:path>
            </a:pathLst>
          </a:custGeom>
          <a:solidFill>
            <a:srgbClr val="156082"/>
          </a:solidFill>
          <a:ln>
            <a:headEnd type="none"/>
            <a:tailEnd type="none"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kern="0">
                <a:solidFill>
                  <a:prstClr val="white"/>
                </a:solidFill>
                <a:latin typeface="Aptos"/>
              </a:rPr>
              <a:t>Applied</a:t>
            </a:r>
            <a:r>
              <a: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</a:rPr>
              <a:t> AI leader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BCBC89AB-3215-A28B-8F5F-5447CB02F25B}"/>
              </a:ext>
            </a:extLst>
          </p:cNvPr>
          <p:cNvSpPr>
            <a:spLocks/>
          </p:cNvSpPr>
          <p:nvPr/>
        </p:nvSpPr>
        <p:spPr>
          <a:xfrm>
            <a:off x="1742319" y="682555"/>
            <a:ext cx="1845320" cy="336919"/>
          </a:xfrm>
          <a:custGeom>
            <a:avLst/>
            <a:gdLst/>
            <a:ahLst/>
            <a:cxnLst/>
            <a:rect l="l" t="t" r="r" b="b"/>
            <a:pathLst>
              <a:path w="1440180" h="817879">
                <a:moveTo>
                  <a:pt x="1303820" y="0"/>
                </a:moveTo>
                <a:lnTo>
                  <a:pt x="136245" y="0"/>
                </a:lnTo>
                <a:lnTo>
                  <a:pt x="93181" y="6942"/>
                </a:lnTo>
                <a:lnTo>
                  <a:pt x="55780" y="26277"/>
                </a:lnTo>
                <a:lnTo>
                  <a:pt x="26287" y="55769"/>
                </a:lnTo>
                <a:lnTo>
                  <a:pt x="6945" y="93179"/>
                </a:lnTo>
                <a:lnTo>
                  <a:pt x="0" y="136270"/>
                </a:lnTo>
                <a:lnTo>
                  <a:pt x="0" y="681227"/>
                </a:lnTo>
                <a:lnTo>
                  <a:pt x="6945" y="724319"/>
                </a:lnTo>
                <a:lnTo>
                  <a:pt x="26287" y="761729"/>
                </a:lnTo>
                <a:lnTo>
                  <a:pt x="55780" y="791221"/>
                </a:lnTo>
                <a:lnTo>
                  <a:pt x="93181" y="810556"/>
                </a:lnTo>
                <a:lnTo>
                  <a:pt x="136245" y="817498"/>
                </a:lnTo>
                <a:lnTo>
                  <a:pt x="1303820" y="817498"/>
                </a:lnTo>
                <a:lnTo>
                  <a:pt x="1346849" y="810556"/>
                </a:lnTo>
                <a:lnTo>
                  <a:pt x="1384222" y="791221"/>
                </a:lnTo>
                <a:lnTo>
                  <a:pt x="1413694" y="761729"/>
                </a:lnTo>
                <a:lnTo>
                  <a:pt x="1433022" y="724319"/>
                </a:lnTo>
                <a:lnTo>
                  <a:pt x="1439964" y="681227"/>
                </a:lnTo>
                <a:lnTo>
                  <a:pt x="1439964" y="136270"/>
                </a:lnTo>
                <a:lnTo>
                  <a:pt x="1433022" y="93179"/>
                </a:lnTo>
                <a:lnTo>
                  <a:pt x="1413694" y="55769"/>
                </a:lnTo>
                <a:lnTo>
                  <a:pt x="1384222" y="26277"/>
                </a:lnTo>
                <a:lnTo>
                  <a:pt x="1346849" y="6942"/>
                </a:lnTo>
                <a:lnTo>
                  <a:pt x="1303820" y="0"/>
                </a:lnTo>
                <a:close/>
              </a:path>
            </a:pathLst>
          </a:custGeom>
          <a:solidFill>
            <a:srgbClr val="156082"/>
          </a:solidFill>
          <a:ln>
            <a:headEnd type="none"/>
            <a:tailEnd type="none"/>
          </a:ln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IN" sz="1400" b="1" kern="0">
                <a:solidFill>
                  <a:prstClr val="white"/>
                </a:solidFill>
                <a:latin typeface="Aptos"/>
              </a:rPr>
              <a:t>TTLH DNA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6" descr="ITQ Technologies | LinkedIn">
            <a:extLst>
              <a:ext uri="{FF2B5EF4-FFF2-40B4-BE49-F238E27FC236}">
                <a16:creationId xmlns:a16="http://schemas.microsoft.com/office/drawing/2014/main" id="{C29583D6-4934-67AA-A0D3-2BB22DA2D2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5" b="17786"/>
          <a:stretch>
            <a:fillRect/>
          </a:stretch>
        </p:blipFill>
        <p:spPr bwMode="auto">
          <a:xfrm>
            <a:off x="2506902" y="6246762"/>
            <a:ext cx="816179" cy="56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Airbus Logo, symbol, meaning, history, PNG, brand">
            <a:extLst>
              <a:ext uri="{FF2B5EF4-FFF2-40B4-BE49-F238E27FC236}">
                <a16:creationId xmlns:a16="http://schemas.microsoft.com/office/drawing/2014/main" id="{7AF249F7-5F44-D190-A098-CC1A10AE5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18" y="4253595"/>
            <a:ext cx="1137856" cy="64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Boeing logo PNG transparent image download, size: 2560x1164px">
            <a:extLst>
              <a:ext uri="{FF2B5EF4-FFF2-40B4-BE49-F238E27FC236}">
                <a16:creationId xmlns:a16="http://schemas.microsoft.com/office/drawing/2014/main" id="{7A2A0D87-6813-C045-8EED-7ABB31B4D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994" y="4282689"/>
            <a:ext cx="1327924" cy="5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HAMP-Logo-RGB-Full-Color-100x100 (1)">
            <a:extLst>
              <a:ext uri="{FF2B5EF4-FFF2-40B4-BE49-F238E27FC236}">
                <a16:creationId xmlns:a16="http://schemas.microsoft.com/office/drawing/2014/main" id="{842D1E1D-D845-1A1F-9918-57747FCD0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98" y="6145211"/>
            <a:ext cx="645158" cy="64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ndiGo Vector Logo | Free Download ...">
            <a:extLst>
              <a:ext uri="{FF2B5EF4-FFF2-40B4-BE49-F238E27FC236}">
                <a16:creationId xmlns:a16="http://schemas.microsoft.com/office/drawing/2014/main" id="{6A6115A6-57F8-1653-7F5F-03F926AB2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059" y="4277355"/>
            <a:ext cx="1167817" cy="6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Job Openings | Amex GBT">
            <a:extLst>
              <a:ext uri="{FF2B5EF4-FFF2-40B4-BE49-F238E27FC236}">
                <a16:creationId xmlns:a16="http://schemas.microsoft.com/office/drawing/2014/main" id="{EEB0FDC2-3421-A53A-C40F-5AE4816618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22" b="30445"/>
          <a:stretch>
            <a:fillRect/>
          </a:stretch>
        </p:blipFill>
        <p:spPr bwMode="auto">
          <a:xfrm>
            <a:off x="2096051" y="5035110"/>
            <a:ext cx="1137856" cy="43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EaseMyTrip partners with Hyperface to ...">
            <a:extLst>
              <a:ext uri="{FF2B5EF4-FFF2-40B4-BE49-F238E27FC236}">
                <a16:creationId xmlns:a16="http://schemas.microsoft.com/office/drawing/2014/main" id="{B341B3FE-BED2-7430-F8EC-725974473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22" b="29881"/>
          <a:stretch>
            <a:fillRect/>
          </a:stretch>
        </p:blipFill>
        <p:spPr bwMode="auto">
          <a:xfrm>
            <a:off x="3588716" y="5564520"/>
            <a:ext cx="1324473" cy="53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Saudi Arabian Airlines Logo, symbol, meaning, history, PNG, brand">
            <a:extLst>
              <a:ext uri="{FF2B5EF4-FFF2-40B4-BE49-F238E27FC236}">
                <a16:creationId xmlns:a16="http://schemas.microsoft.com/office/drawing/2014/main" id="{2C708851-7D10-DDAD-36FA-F1BAE77C5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17" y="4932833"/>
            <a:ext cx="1167818" cy="65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bject 9">
            <a:extLst>
              <a:ext uri="{FF2B5EF4-FFF2-40B4-BE49-F238E27FC236}">
                <a16:creationId xmlns:a16="http://schemas.microsoft.com/office/drawing/2014/main" id="{516884F8-25BE-774E-F4D6-03134510170A}"/>
              </a:ext>
            </a:extLst>
          </p:cNvPr>
          <p:cNvSpPr>
            <a:spLocks/>
          </p:cNvSpPr>
          <p:nvPr/>
        </p:nvSpPr>
        <p:spPr>
          <a:xfrm>
            <a:off x="1181954" y="3838112"/>
            <a:ext cx="3652263" cy="294822"/>
          </a:xfrm>
          <a:custGeom>
            <a:avLst/>
            <a:gdLst/>
            <a:ahLst/>
            <a:cxnLst/>
            <a:rect l="l" t="t" r="r" b="b"/>
            <a:pathLst>
              <a:path w="1440180" h="817879">
                <a:moveTo>
                  <a:pt x="1303820" y="0"/>
                </a:moveTo>
                <a:lnTo>
                  <a:pt x="136245" y="0"/>
                </a:lnTo>
                <a:lnTo>
                  <a:pt x="93181" y="6942"/>
                </a:lnTo>
                <a:lnTo>
                  <a:pt x="55780" y="26277"/>
                </a:lnTo>
                <a:lnTo>
                  <a:pt x="26287" y="55769"/>
                </a:lnTo>
                <a:lnTo>
                  <a:pt x="6945" y="93179"/>
                </a:lnTo>
                <a:lnTo>
                  <a:pt x="0" y="136270"/>
                </a:lnTo>
                <a:lnTo>
                  <a:pt x="0" y="681227"/>
                </a:lnTo>
                <a:lnTo>
                  <a:pt x="6945" y="724319"/>
                </a:lnTo>
                <a:lnTo>
                  <a:pt x="26287" y="761729"/>
                </a:lnTo>
                <a:lnTo>
                  <a:pt x="55780" y="791221"/>
                </a:lnTo>
                <a:lnTo>
                  <a:pt x="93181" y="810556"/>
                </a:lnTo>
                <a:lnTo>
                  <a:pt x="136245" y="817498"/>
                </a:lnTo>
                <a:lnTo>
                  <a:pt x="1303820" y="817498"/>
                </a:lnTo>
                <a:lnTo>
                  <a:pt x="1346849" y="810556"/>
                </a:lnTo>
                <a:lnTo>
                  <a:pt x="1384222" y="791221"/>
                </a:lnTo>
                <a:lnTo>
                  <a:pt x="1413694" y="761729"/>
                </a:lnTo>
                <a:lnTo>
                  <a:pt x="1433022" y="724319"/>
                </a:lnTo>
                <a:lnTo>
                  <a:pt x="1439964" y="681227"/>
                </a:lnTo>
                <a:lnTo>
                  <a:pt x="1439964" y="136270"/>
                </a:lnTo>
                <a:lnTo>
                  <a:pt x="1433022" y="93179"/>
                </a:lnTo>
                <a:lnTo>
                  <a:pt x="1413694" y="55769"/>
                </a:lnTo>
                <a:lnTo>
                  <a:pt x="1384222" y="26277"/>
                </a:lnTo>
                <a:lnTo>
                  <a:pt x="1346849" y="6942"/>
                </a:lnTo>
                <a:lnTo>
                  <a:pt x="1303820" y="0"/>
                </a:lnTo>
                <a:close/>
              </a:path>
            </a:pathLst>
          </a:custGeom>
          <a:solidFill>
            <a:srgbClr val="156082"/>
          </a:solidFill>
          <a:ln>
            <a:headEnd type="none"/>
            <a:tailEnd type="none"/>
          </a:ln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</a:rPr>
              <a:t>Trusted by Leading </a:t>
            </a:r>
            <a:r>
              <a:rPr lang="en-US" sz="1400" b="1" kern="0" dirty="0">
                <a:solidFill>
                  <a:prstClr val="white"/>
                </a:solidFill>
                <a:latin typeface="Aptos"/>
              </a:rPr>
              <a:t>Global </a:t>
            </a:r>
            <a:r>
              <a:rPr lang="en-US" sz="1400" b="1" kern="0">
                <a:solidFill>
                  <a:prstClr val="white"/>
                </a:solidFill>
                <a:latin typeface="Aptos"/>
              </a:rPr>
              <a:t>Enterprises</a:t>
            </a:r>
            <a:endParaRPr kumimoji="0" lang="en-I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8" name="object 9">
            <a:extLst>
              <a:ext uri="{FF2B5EF4-FFF2-40B4-BE49-F238E27FC236}">
                <a16:creationId xmlns:a16="http://schemas.microsoft.com/office/drawing/2014/main" id="{6E698F5A-F476-8B71-C432-DA370419102C}"/>
              </a:ext>
            </a:extLst>
          </p:cNvPr>
          <p:cNvSpPr>
            <a:spLocks/>
          </p:cNvSpPr>
          <p:nvPr/>
        </p:nvSpPr>
        <p:spPr>
          <a:xfrm>
            <a:off x="7704673" y="5003957"/>
            <a:ext cx="2616689" cy="318734"/>
          </a:xfrm>
          <a:custGeom>
            <a:avLst/>
            <a:gdLst/>
            <a:ahLst/>
            <a:cxnLst/>
            <a:rect l="l" t="t" r="r" b="b"/>
            <a:pathLst>
              <a:path w="1440180" h="817879">
                <a:moveTo>
                  <a:pt x="1303820" y="0"/>
                </a:moveTo>
                <a:lnTo>
                  <a:pt x="136245" y="0"/>
                </a:lnTo>
                <a:lnTo>
                  <a:pt x="93181" y="6942"/>
                </a:lnTo>
                <a:lnTo>
                  <a:pt x="55780" y="26277"/>
                </a:lnTo>
                <a:lnTo>
                  <a:pt x="26287" y="55769"/>
                </a:lnTo>
                <a:lnTo>
                  <a:pt x="6945" y="93179"/>
                </a:lnTo>
                <a:lnTo>
                  <a:pt x="0" y="136270"/>
                </a:lnTo>
                <a:lnTo>
                  <a:pt x="0" y="681227"/>
                </a:lnTo>
                <a:lnTo>
                  <a:pt x="6945" y="724319"/>
                </a:lnTo>
                <a:lnTo>
                  <a:pt x="26287" y="761729"/>
                </a:lnTo>
                <a:lnTo>
                  <a:pt x="55780" y="791221"/>
                </a:lnTo>
                <a:lnTo>
                  <a:pt x="93181" y="810556"/>
                </a:lnTo>
                <a:lnTo>
                  <a:pt x="136245" y="817498"/>
                </a:lnTo>
                <a:lnTo>
                  <a:pt x="1303820" y="817498"/>
                </a:lnTo>
                <a:lnTo>
                  <a:pt x="1346849" y="810556"/>
                </a:lnTo>
                <a:lnTo>
                  <a:pt x="1384222" y="791221"/>
                </a:lnTo>
                <a:lnTo>
                  <a:pt x="1413694" y="761729"/>
                </a:lnTo>
                <a:lnTo>
                  <a:pt x="1433022" y="724319"/>
                </a:lnTo>
                <a:lnTo>
                  <a:pt x="1439964" y="681227"/>
                </a:lnTo>
                <a:lnTo>
                  <a:pt x="1439964" y="136270"/>
                </a:lnTo>
                <a:lnTo>
                  <a:pt x="1433022" y="93179"/>
                </a:lnTo>
                <a:lnTo>
                  <a:pt x="1413694" y="55769"/>
                </a:lnTo>
                <a:lnTo>
                  <a:pt x="1384222" y="26277"/>
                </a:lnTo>
                <a:lnTo>
                  <a:pt x="1346849" y="6942"/>
                </a:lnTo>
                <a:lnTo>
                  <a:pt x="1303820" y="0"/>
                </a:lnTo>
                <a:close/>
              </a:path>
            </a:pathLst>
          </a:custGeom>
          <a:solidFill>
            <a:srgbClr val="156082"/>
          </a:solidFill>
          <a:ln>
            <a:headEnd type="none"/>
            <a:tailEnd type="none"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kern="0">
                <a:solidFill>
                  <a:prstClr val="white"/>
                </a:solidFill>
                <a:latin typeface="Aptos" panose="020B0004020202020204" pitchFamily="34" charset="0"/>
              </a:rPr>
              <a:t>Our </a:t>
            </a:r>
            <a:r>
              <a: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Ecosystem Partnerships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38713-6DCC-E203-7E28-2F971BA478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362" y="5391425"/>
            <a:ext cx="1334919" cy="284288"/>
          </a:xfrm>
          <a:prstGeom prst="rect">
            <a:avLst/>
          </a:prstGeom>
        </p:spPr>
      </p:pic>
      <p:pic>
        <p:nvPicPr>
          <p:cNvPr id="8" name="Picture 7" descr="A black and white logo  AI-generated content may be incorrect.">
            <a:extLst>
              <a:ext uri="{FF2B5EF4-FFF2-40B4-BE49-F238E27FC236}">
                <a16:creationId xmlns:a16="http://schemas.microsoft.com/office/drawing/2014/main" id="{8E98E04F-464C-664F-0447-34176FDBCB3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45" y="5391425"/>
            <a:ext cx="1651853" cy="287511"/>
          </a:xfrm>
          <a:prstGeom prst="rect">
            <a:avLst/>
          </a:prstGeom>
        </p:spPr>
      </p:pic>
      <p:pic>
        <p:nvPicPr>
          <p:cNvPr id="16" name="Picture 24" descr="AWS Logo PNG Transparent &amp; SVG Vector - Freebie Supply">
            <a:extLst>
              <a:ext uri="{FF2B5EF4-FFF2-40B4-BE49-F238E27FC236}">
                <a16:creationId xmlns:a16="http://schemas.microsoft.com/office/drawing/2014/main" id="{D279C036-ECEB-1C4E-F50F-A9A62EFB3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788" y="5364954"/>
            <a:ext cx="663423" cy="51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blue cloud with white text  AI-generated content may be incorrect.">
            <a:extLst>
              <a:ext uri="{FF2B5EF4-FFF2-40B4-BE49-F238E27FC236}">
                <a16:creationId xmlns:a16="http://schemas.microsoft.com/office/drawing/2014/main" id="{B95526C9-5223-B55D-9FEF-64DB348323C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84" y="5364954"/>
            <a:ext cx="727286" cy="469076"/>
          </a:xfrm>
          <a:prstGeom prst="rect">
            <a:avLst/>
          </a:prstGeom>
        </p:spPr>
      </p:pic>
      <p:pic>
        <p:nvPicPr>
          <p:cNvPr id="20" name="Picture 10" descr="Salesforce Consultant | Cloud Analogy">
            <a:extLst>
              <a:ext uri="{FF2B5EF4-FFF2-40B4-BE49-F238E27FC236}">
                <a16:creationId xmlns:a16="http://schemas.microsoft.com/office/drawing/2014/main" id="{FF545E5E-08A5-D9D7-248E-66EEB7437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3" r="20585" b="-3432"/>
          <a:stretch>
            <a:fillRect/>
          </a:stretch>
        </p:blipFill>
        <p:spPr bwMode="auto">
          <a:xfrm>
            <a:off x="9800954" y="6315739"/>
            <a:ext cx="663423" cy="5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Graphic 12">
            <a:extLst>
              <a:ext uri="{FF2B5EF4-FFF2-40B4-BE49-F238E27FC236}">
                <a16:creationId xmlns:a16="http://schemas.microsoft.com/office/drawing/2014/main" id="{3953ABA6-9FE5-BCE9-3366-60E7729B8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40646" y="5892954"/>
            <a:ext cx="1054894" cy="252257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8CEA915-DCB3-F055-43A7-649FC25B3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05211" y="5926386"/>
            <a:ext cx="1365377" cy="28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phic 6">
            <a:extLst>
              <a:ext uri="{FF2B5EF4-FFF2-40B4-BE49-F238E27FC236}">
                <a16:creationId xmlns:a16="http://schemas.microsoft.com/office/drawing/2014/main" id="{3243E988-7904-0708-5DA3-622F1C147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65246" y="6352637"/>
            <a:ext cx="816179" cy="3264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780133E-B9BF-F7D3-F1EF-43C19A62069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45773" y="5861402"/>
            <a:ext cx="703068" cy="347278"/>
          </a:xfrm>
          <a:prstGeom prst="rect">
            <a:avLst/>
          </a:prstGeom>
        </p:spPr>
      </p:pic>
      <p:pic>
        <p:nvPicPr>
          <p:cNvPr id="31" name="Picture 26" descr="Download Google Cloud Platform (GCP) Logo in SVG Vector or PNG File Format  - Logo.wine">
            <a:extLst>
              <a:ext uri="{FF2B5EF4-FFF2-40B4-BE49-F238E27FC236}">
                <a16:creationId xmlns:a16="http://schemas.microsoft.com/office/drawing/2014/main" id="{866A0B0F-70CF-BDCF-63AA-10250A8CE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9" b="31921"/>
          <a:stretch>
            <a:fillRect/>
          </a:stretch>
        </p:blipFill>
        <p:spPr bwMode="auto">
          <a:xfrm>
            <a:off x="7745613" y="6287691"/>
            <a:ext cx="1912405" cy="48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Graphic 9">
            <a:extLst>
              <a:ext uri="{FF2B5EF4-FFF2-40B4-BE49-F238E27FC236}">
                <a16:creationId xmlns:a16="http://schemas.microsoft.com/office/drawing/2014/main" id="{9D57FB3D-0ABA-537D-EC73-D2B94842A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13018" y="5957075"/>
            <a:ext cx="1451359" cy="215218"/>
          </a:xfrm>
          <a:prstGeom prst="rect">
            <a:avLst/>
          </a:prstGeom>
        </p:spPr>
      </p:pic>
      <p:pic>
        <p:nvPicPr>
          <p:cNvPr id="33" name="Picture 32" descr="A black background with brown letters  Description automatically generated">
            <a:extLst>
              <a:ext uri="{FF2B5EF4-FFF2-40B4-BE49-F238E27FC236}">
                <a16:creationId xmlns:a16="http://schemas.microsoft.com/office/drawing/2014/main" id="{C2D0B073-FF16-7F4B-55F3-2774B3EFE51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11" y="6349665"/>
            <a:ext cx="1142933" cy="325825"/>
          </a:xfrm>
          <a:prstGeom prst="rect">
            <a:avLst/>
          </a:prstGeom>
        </p:spPr>
      </p:pic>
      <p:pic>
        <p:nvPicPr>
          <p:cNvPr id="1028" name="Picture 4" descr="British Airways | IAG">
            <a:extLst>
              <a:ext uri="{FF2B5EF4-FFF2-40B4-BE49-F238E27FC236}">
                <a16:creationId xmlns:a16="http://schemas.microsoft.com/office/drawing/2014/main" id="{4AFF8C67-E65E-D19A-69EA-09A246C83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54"/>
          <a:stretch>
            <a:fillRect/>
          </a:stretch>
        </p:blipFill>
        <p:spPr bwMode="auto">
          <a:xfrm>
            <a:off x="912202" y="5436976"/>
            <a:ext cx="906045" cy="51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ccor - Wikipedia">
            <a:extLst>
              <a:ext uri="{FF2B5EF4-FFF2-40B4-BE49-F238E27FC236}">
                <a16:creationId xmlns:a16="http://schemas.microsoft.com/office/drawing/2014/main" id="{10F3C39B-861D-1DD0-537D-726ED572B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202" y="5598947"/>
            <a:ext cx="636000" cy="51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NNISMORE LAUNCHES NEW STUDIO DEDICATED ...">
            <a:extLst>
              <a:ext uri="{FF2B5EF4-FFF2-40B4-BE49-F238E27FC236}">
                <a16:creationId xmlns:a16="http://schemas.microsoft.com/office/drawing/2014/main" id="{512414A7-45C1-0993-A324-736BE3B36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142" y="6346901"/>
            <a:ext cx="1136554" cy="4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3FCF658-84AA-8077-7D13-83040004EA53}"/>
              </a:ext>
            </a:extLst>
          </p:cNvPr>
          <p:cNvSpPr txBox="1"/>
          <p:nvPr/>
        </p:nvSpPr>
        <p:spPr>
          <a:xfrm>
            <a:off x="5117705" y="6472773"/>
            <a:ext cx="1376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>
                <a:solidFill>
                  <a:srgbClr val="002060"/>
                </a:solidFill>
              </a:rPr>
              <a:t>&amp; many more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DC8437-A9D6-40B1-7EB8-041AC0776ECE}"/>
              </a:ext>
            </a:extLst>
          </p:cNvPr>
          <p:cNvSpPr txBox="1"/>
          <p:nvPr/>
        </p:nvSpPr>
        <p:spPr>
          <a:xfrm>
            <a:off x="320641" y="242443"/>
            <a:ext cx="10167692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IN" sz="2200" b="1">
                <a:ea typeface="+mn-lt"/>
                <a:cs typeface="+mn-lt"/>
              </a:rPr>
              <a:t>AIONOS: A</a:t>
            </a:r>
            <a:r>
              <a:rPr lang="en-IN" sz="2200" b="1" dirty="0">
                <a:solidFill>
                  <a:srgbClr val="000000"/>
                </a:solidFill>
                <a:ea typeface="+mn-lt"/>
                <a:cs typeface="+mn-lt"/>
              </a:rPr>
              <a:t>n Applied AI Company </a:t>
            </a:r>
          </a:p>
        </p:txBody>
      </p:sp>
      <p:pic>
        <p:nvPicPr>
          <p:cNvPr id="1026" name="Picture 2" descr="National Thermal Power Corporation — Wikipédia">
            <a:extLst>
              <a:ext uri="{FF2B5EF4-FFF2-40B4-BE49-F238E27FC236}">
                <a16:creationId xmlns:a16="http://schemas.microsoft.com/office/drawing/2014/main" id="{554DF95B-2081-1DCB-C6EE-B57F87944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450" y="4951586"/>
            <a:ext cx="822670" cy="45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C10CEFAA-6AD1-FE55-D8CE-81034FCE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655" y="6236279"/>
            <a:ext cx="1249803" cy="51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31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Products, Expert Services and AI Foundry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pilots to scaled enterprise AI</a:t>
            </a:r>
            <a:endParaRPr lang="en-US" sz="1300" dirty="0"/>
          </a:p>
        </p:txBody>
      </p:sp>
      <p:pic>
        <p:nvPicPr>
          <p:cNvPr id="4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24128"/>
            <a:ext cx="7223760" cy="347472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66928" y="10241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Products &amp; Platforms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integrated platforms spanning AI operations, CX, data and security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3520440" cy="73152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UniStack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215798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Operations Platform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2432304"/>
            <a:ext cx="3300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Agentic AI observability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DataOps orchestration and self-healing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cloud orchestration with guardrails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impact dashboards for leadership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60520" y="1755648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160520" y="1755648"/>
            <a:ext cx="3520440" cy="73152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270248" y="188366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UniWeave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270248" y="2157984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Multi-Modal Customer Experience Platform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0248" y="2432304"/>
            <a:ext cx="3300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Omnichannel Conversation AI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sentiment analysis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and personalised CX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agent assist and decision support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3520440" cy="73152"/>
          </a:xfrm>
          <a:prstGeom prst="rect">
            <a:avLst/>
          </a:prstGeom>
          <a:solidFill>
            <a:srgbClr val="C026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6484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UniScale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66928" y="3922776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Marketplace for B2B Data Monetization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" y="4197096"/>
            <a:ext cx="3300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asset discovery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packaging and productization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and AEO intelligence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and revenue orchestration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60520" y="35204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160520" y="3520440"/>
            <a:ext cx="3520440" cy="73152"/>
          </a:xfrm>
          <a:prstGeom prst="rect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270248" y="36484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UniProtect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270248" y="3922776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and Business Resilience Platform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70248" y="4197096"/>
            <a:ext cx="3300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threat detection and response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continuity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Disaster recovery</a:t>
            </a:r>
            <a:endParaRPr lang="en-US" sz="1000" dirty="0"/>
          </a:p>
          <a:p>
            <a:pPr marL="101600" indent="-101600" algn="l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automation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863840" y="1024128"/>
            <a:ext cx="3886200" cy="347472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973568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Transformation Services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863840" y="1481328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7973568" y="1581912"/>
            <a:ext cx="274320" cy="274320"/>
          </a:xfrm>
          <a:prstGeom prst="ellipse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973568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57616" y="14813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Strategy and Consulting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863840" y="2048256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973568" y="2148840"/>
            <a:ext cx="274320" cy="274320"/>
          </a:xfrm>
          <a:prstGeom prst="ellipse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97356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57616" y="20482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 AI and Automation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863840" y="2615184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7973568" y="2715768"/>
            <a:ext cx="274320" cy="274320"/>
          </a:xfrm>
          <a:prstGeom prst="ellipse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7973568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357616" y="26151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Transformation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863840" y="3182112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973568" y="3282696"/>
            <a:ext cx="274320" cy="274320"/>
          </a:xfrm>
          <a:prstGeom prst="ellipse">
            <a:avLst/>
          </a:prstGeom>
          <a:solidFill>
            <a:srgbClr val="C026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973568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357616" y="31821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 Capabilities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863840" y="3749040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7973568" y="3849624"/>
            <a:ext cx="274320" cy="27432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797356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357616" y="37490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Ecosystem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7863840" y="4315968"/>
            <a:ext cx="3886200" cy="4754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7973568" y="4416552"/>
            <a:ext cx="274320" cy="27432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973568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357616" y="4315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AI Engineering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457200" y="5349240"/>
            <a:ext cx="11292840" cy="36576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566928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AI Foundry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3566160" y="5349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E8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proprietary engine industrializing AI adoption: the operating model to scale enterprise AI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57200" y="5779008"/>
            <a:ext cx="2148840" cy="9144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54864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548640" y="6062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548640" y="6245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GenAI Adoption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2697480" y="5779008"/>
            <a:ext cx="2148840" cy="914400"/>
          </a:xfrm>
          <a:prstGeom prst="rect">
            <a:avLst/>
          </a:prstGeom>
          <a:solidFill>
            <a:srgbClr val="EA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278892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2788920" y="6062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2788920" y="6245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AI Squads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4937760" y="5779008"/>
            <a:ext cx="2148840" cy="914400"/>
          </a:xfrm>
          <a:prstGeom prst="rect">
            <a:avLst/>
          </a:prstGeom>
          <a:solidFill>
            <a:srgbClr val="EA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502920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5029200" y="6062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029200" y="6245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Foundations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178040" y="5779008"/>
            <a:ext cx="2148840" cy="914400"/>
          </a:xfrm>
          <a:prstGeom prst="rect">
            <a:avLst/>
          </a:prstGeom>
          <a:solidFill>
            <a:srgbClr val="EA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726948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71" name="Text 68"/>
          <p:cNvSpPr/>
          <p:nvPr/>
        </p:nvSpPr>
        <p:spPr>
          <a:xfrm>
            <a:off x="7269480" y="6062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7269480" y="6245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AI Accelerators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9418320" y="5779008"/>
            <a:ext cx="2148840" cy="914400"/>
          </a:xfrm>
          <a:prstGeom prst="rect">
            <a:avLst/>
          </a:prstGeom>
          <a:solidFill>
            <a:srgbClr val="EA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950976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9509760" y="6062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9509760" y="62453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Enterprise AI Scaling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Core AI Capabilities</a:t>
            </a:r>
            <a:endParaRPr lang="en-US" sz="24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667512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66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60920" y="1051560"/>
            <a:ext cx="438912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665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60920" y="10515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METRIC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5544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8470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scanning, dent detection, assembly conformance, cabin installation QA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60920" y="1609344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43800" y="160934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&gt;90% classification accuracy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221992"/>
            <a:ext cx="112928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386584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" y="22677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Extraction &amp; RAG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7552" y="2560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retrieval from legacy manuals, mainframes, and engineering drawings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60920" y="2322576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543800" y="23225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86%+ retrieval accuracy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35224"/>
            <a:ext cx="112928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57200" y="3099816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87552" y="298094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Orchestration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87552" y="32735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pipelines with human-in-the-loop governance for regulatory decisions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60920" y="3035808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543800" y="30358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across multiple enterprise engagements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648456"/>
            <a:ext cx="112928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87552" y="369417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987552" y="39867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surface and operational anomaly detection, predictive supply stress engine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360920" y="3749040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543800" y="37490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in Dent AI and IntelliFleet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4361688"/>
            <a:ext cx="112928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57200" y="4526280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57200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87552" y="440740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Automation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87552" y="47000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Source-to-contract workflow automation across procurement and compliance pipelines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360920" y="4462272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543800" y="446227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 faster process turnaround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57200" y="5074920"/>
            <a:ext cx="112928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57200" y="5239512"/>
            <a:ext cx="402336" cy="40233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45720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87552" y="51206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Traceability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987552" y="54132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data lineage from engineering data to model to agent to decision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360920" y="5175504"/>
            <a:ext cx="4389120" cy="530352"/>
          </a:xfrm>
          <a:prstGeom prst="rect">
            <a:avLst/>
          </a:prstGeom>
          <a:solidFill>
            <a:srgbClr val="DDF3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7543800" y="51755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Compliance-grade audit trail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ve_l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Shell Opportunity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high-impact control towers for Shell India: dangerous goods logistics and source-to-pay operations</a:t>
            </a:r>
            <a:endParaRPr lang="en-US" sz="1400" dirty="0"/>
          </a:p>
        </p:txBody>
      </p:sp>
      <p:pic>
        <p:nvPicPr>
          <p:cNvPr id="7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x AIONOS: AI use-cases to create business-outcome transformation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high-impact control towers for Shell: </a:t>
            </a:r>
            <a:r>
              <a:rPr lang="en-US" sz="1200" b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goods (DG) logistics </a:t>
            </a:r>
            <a:r>
              <a:rPr lang="en-US" sz="12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</a:t>
            </a:r>
            <a:r>
              <a:rPr lang="en-US" sz="1200" b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Source-to-pay operations</a:t>
            </a:r>
            <a:endParaRPr lang="en-US" sz="1200" b="1" dirty="0"/>
          </a:p>
        </p:txBody>
      </p:sp>
      <p:pic>
        <p:nvPicPr>
          <p:cNvPr id="5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4475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can embed governed AI into Shell's daily operating fabric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another GenAI chatbot. It is a business command layer that orchestrates risk, work and evidence around business outcomes.</a:t>
            </a:r>
            <a:endParaRPr lang="en-US" sz="1200" dirty="0"/>
          </a:p>
        </p:txBody>
      </p:sp>
      <p:pic>
        <p:nvPicPr>
          <p:cNvPr id="8" name="Image 1" descr="/home/claude/assets/control_room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0840" y="1444752"/>
            <a:ext cx="5029200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command layer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20840" y="4315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Senses risk, recommends action, automates controls, proves decisions. </a:t>
            </a:r>
            <a:r>
              <a:rPr lang="en-IN" sz="11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Point-tracking tools</a:t>
            </a:r>
            <a:r>
              <a:rPr lang="en-IN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 tell you </a:t>
            </a:r>
            <a:r>
              <a:rPr lang="en-IN" sz="11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where a shipment is</a:t>
            </a:r>
            <a:r>
              <a:rPr lang="en-IN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. AIONOS tells you what to do about it and proves you did it right. This is </a:t>
            </a:r>
            <a:r>
              <a:rPr lang="en-IN" sz="11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a governed decision layer, not a visibility dashboard.</a:t>
            </a:r>
            <a:endParaRPr lang="en-US" sz="1100" b="1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1100" dirty="0">
              <a:latin typeface="Aptos" pitchFamily="34" charset="0"/>
            </a:endParaRPr>
          </a:p>
          <a:p>
            <a:pPr marL="0" indent="0" algn="l">
              <a:buNone/>
            </a:pPr>
            <a:r>
              <a:rPr lang="en-IN" sz="1100" b="1" dirty="0">
                <a:latin typeface="Aptos" panose="020B0004020202020204" pitchFamily="34" charset="0"/>
              </a:rPr>
              <a:t>Starting point: Shell India</a:t>
            </a:r>
            <a:r>
              <a:rPr lang="en-IN" sz="1100" dirty="0">
                <a:latin typeface="Aptos" panose="020B0004020202020204" pitchFamily="34" charset="0"/>
              </a:rPr>
              <a:t>. Both control towers are designed to prove the model in one geography, then extend as a global operating layer across Shell's road transport and source-to-pay footprint.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320040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9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48640" y="3310128"/>
            <a:ext cx="1737360" cy="45720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85216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INTRA-CITY FUEL LOGISTICS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38404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journey control for dangerous-goods movement: dispatch, route risk and live exceptions.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514600" y="320040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89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606040" y="3310128"/>
            <a:ext cx="1737360" cy="457200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642616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+ AP CO-PILOT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642616" y="38404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experience, payment predictability and audit trails across source-to-pay.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0" y="3200400"/>
            <a:ext cx="192024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6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663440" y="3310128"/>
            <a:ext cx="1737360" cy="45720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700016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OPERATING MODEL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700016" y="384048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UniStack and AI Foundry industrialise data, agents, guardrails, HITL approvals and measurable ROI.</a:t>
            </a:r>
            <a:endParaRPr lang="en-US" sz="10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AE56E83-F556-E508-3A92-A535313677C6}"/>
              </a:ext>
            </a:extLst>
          </p:cNvPr>
          <p:cNvGrpSpPr/>
          <p:nvPr/>
        </p:nvGrpSpPr>
        <p:grpSpPr>
          <a:xfrm>
            <a:off x="457200" y="5813552"/>
            <a:ext cx="11292840" cy="566928"/>
            <a:chOff x="457200" y="5193792"/>
            <a:chExt cx="11292840" cy="566928"/>
          </a:xfrm>
        </p:grpSpPr>
        <p:sp>
          <p:nvSpPr>
            <p:cNvPr id="23" name="Shape 19"/>
            <p:cNvSpPr/>
            <p:nvPr/>
          </p:nvSpPr>
          <p:spPr>
            <a:xfrm>
              <a:off x="457200" y="5193792"/>
              <a:ext cx="11292840" cy="566928"/>
            </a:xfrm>
            <a:prstGeom prst="rect">
              <a:avLst/>
            </a:prstGeom>
            <a:solidFill>
              <a:srgbClr val="16657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20"/>
            <p:cNvSpPr/>
            <p:nvPr/>
          </p:nvSpPr>
          <p:spPr>
            <a:xfrm>
              <a:off x="457200" y="5193792"/>
              <a:ext cx="2258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Safer movements</a:t>
              </a:r>
              <a:endParaRPr lang="en-US" sz="115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2715768" y="5193792"/>
              <a:ext cx="2258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Fewer stockout miles</a:t>
              </a:r>
              <a:endParaRPr lang="en-US" sz="115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4974336" y="5193792"/>
              <a:ext cx="2258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Faster dispute closure</a:t>
              </a:r>
              <a:endParaRPr lang="en-US" sz="1150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7232904" y="5193792"/>
              <a:ext cx="2258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Stronger payment trust</a:t>
              </a:r>
              <a:endParaRPr lang="en-US" sz="1150" dirty="0"/>
            </a:p>
          </p:txBody>
        </p:sp>
        <p:sp>
          <p:nvSpPr>
            <p:cNvPr id="28" name="Text 24"/>
            <p:cNvSpPr/>
            <p:nvPr/>
          </p:nvSpPr>
          <p:spPr>
            <a:xfrm>
              <a:off x="9491472" y="5193792"/>
              <a:ext cx="2258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Compliance evidence</a:t>
              </a:r>
              <a:endParaRPr lang="en-US" sz="1150" dirty="0"/>
            </a:p>
          </p:txBody>
        </p:sp>
      </p:grpSp>
      <p:sp>
        <p:nvSpPr>
          <p:cNvPr id="29" name="Text 25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2">
            <a:extLst>
              <a:ext uri="{FF2B5EF4-FFF2-40B4-BE49-F238E27FC236}">
                <a16:creationId xmlns:a16="http://schemas.microsoft.com/office/drawing/2014/main" id="{B5FACE0E-8B56-5481-DDF6-E85406D199A0}"/>
              </a:ext>
            </a:extLst>
          </p:cNvPr>
          <p:cNvSpPr/>
          <p:nvPr/>
        </p:nvSpPr>
        <p:spPr>
          <a:xfrm>
            <a:off x="6957568" y="2834640"/>
            <a:ext cx="1536192" cy="1600200"/>
          </a:xfrm>
          <a:prstGeom prst="rect">
            <a:avLst/>
          </a:prstGeom>
          <a:solidFill>
            <a:srgbClr val="EAF6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Intra-City Fuel Logistics: build a dangerous-goods movement nerve centre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depot gate-out to retail-site delivery, every litre, vehicle, driver and route has an AI-assisted safety and service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1 OF 2: DG LOGISTICS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1488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Depot / Terminal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readiness, permit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21488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8892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1031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trip plan, time-window fit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2148840" cy="1005840"/>
          </a:xfrm>
          <a:prstGeom prst="rect">
            <a:avLst/>
          </a:prstGeom>
          <a:solidFill>
            <a:srgbClr val="FDF0E2"/>
          </a:solidFill>
          <a:ln w="12700">
            <a:solidFill>
              <a:srgbClr val="F589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Route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scoring, geofence monitor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78040" y="1691640"/>
            <a:ext cx="21488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6948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/ B2B Site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ePOD, dips, stock, exception capture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18320" y="1691640"/>
            <a:ext cx="21488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0976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0" y="21031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Quantity, invoice and audit evidence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536192" cy="1600200"/>
          </a:xfrm>
          <a:prstGeom prst="rect">
            <a:avLst/>
          </a:prstGeom>
          <a:solidFill>
            <a:srgbClr val="EAF6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" y="2944368"/>
            <a:ext cx="1353312" cy="292608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2944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31012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TMS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GPS/telematics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Depot systems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ePOD</a:t>
            </a:r>
            <a:endParaRPr lang="en-US" sz="10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Weather and road restrictions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66544" y="2834640"/>
            <a:ext cx="1536192" cy="1600200"/>
          </a:xfrm>
          <a:prstGeom prst="rect">
            <a:avLst/>
          </a:prstGeom>
          <a:solidFill>
            <a:srgbClr val="EAF6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157984" y="2944368"/>
            <a:ext cx="1353312" cy="292608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157984" y="2944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57984" y="331012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Dynamic risk score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Trip feasibility</a:t>
            </a:r>
          </a:p>
          <a:p>
            <a:pPr marL="171450" indent="-1714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Load/route exceptions</a:t>
            </a:r>
          </a:p>
          <a:p>
            <a:pPr marL="171450" indent="-1714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Driver fitness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 ETA confidence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75888" y="2834640"/>
            <a:ext cx="1536192" cy="1600200"/>
          </a:xfrm>
          <a:prstGeom prst="rect">
            <a:avLst/>
          </a:prstGeom>
          <a:solidFill>
            <a:srgbClr val="EAF6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767328" y="2944368"/>
            <a:ext cx="1353312" cy="292608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767328" y="2944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67328" y="331012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hold/release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Alternate route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reschedule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capture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85232" y="2834640"/>
            <a:ext cx="1536192" cy="1600200"/>
          </a:xfrm>
          <a:prstGeom prst="rect">
            <a:avLst/>
          </a:prstGeom>
          <a:solidFill>
            <a:srgbClr val="EAF6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2944368"/>
            <a:ext cx="1353312" cy="292608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294436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76672" y="3310128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Near-miss patterns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bottlenecks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Vendor/driver performance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tuning</a:t>
            </a:r>
            <a:endParaRPr lang="en-US" sz="1000" dirty="0"/>
          </a:p>
        </p:txBody>
      </p:sp>
      <p:pic>
        <p:nvPicPr>
          <p:cNvPr id="38" name="Image 0" descr="/home/claude/assets/dg_truc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8240" y="2834640"/>
            <a:ext cx="2971800" cy="160020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BE9F549F-24D8-6496-2EF8-2F40BDE340B2}"/>
              </a:ext>
            </a:extLst>
          </p:cNvPr>
          <p:cNvGrpSpPr/>
          <p:nvPr/>
        </p:nvGrpSpPr>
        <p:grpSpPr>
          <a:xfrm>
            <a:off x="457200" y="5572760"/>
            <a:ext cx="11292840" cy="749808"/>
            <a:chOff x="457200" y="4709160"/>
            <a:chExt cx="11292840" cy="74980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9" name="Text 36"/>
            <p:cNvSpPr/>
            <p:nvPr/>
          </p:nvSpPr>
          <p:spPr>
            <a:xfrm>
              <a:off x="457200" y="4709160"/>
              <a:ext cx="2823210" cy="4114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65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24x7</a:t>
              </a:r>
              <a:endParaRPr lang="en-US" sz="19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57200" y="5138928"/>
              <a:ext cx="282321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Movement watch</a:t>
              </a:r>
              <a:endParaRPr lang="en-US" sz="105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3280410" y="4709160"/>
              <a:ext cx="2823210" cy="4114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65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HITL</a:t>
              </a:r>
              <a:endParaRPr lang="en-US" sz="19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3280410" y="5138928"/>
              <a:ext cx="282321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DG hold/release</a:t>
              </a:r>
              <a:endParaRPr lang="en-US" sz="105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6103620" y="4709160"/>
              <a:ext cx="2823210" cy="4114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65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Every trip</a:t>
              </a:r>
              <a:endParaRPr lang="en-US" sz="19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6103620" y="5138928"/>
              <a:ext cx="282321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Decision trail</a:t>
              </a:r>
              <a:endParaRPr lang="en-US" sz="10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8926830" y="4709160"/>
              <a:ext cx="2823210" cy="41148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b="1" dirty="0">
                  <a:solidFill>
                    <a:srgbClr val="1665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Every site</a:t>
              </a:r>
              <a:endParaRPr lang="en-US" sz="19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8926830" y="5138928"/>
              <a:ext cx="282321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ETA confidence</a:t>
              </a:r>
              <a:endParaRPr lang="en-US" sz="1050" dirty="0"/>
            </a:p>
          </p:txBody>
        </p:sp>
      </p:grpSp>
      <p:sp>
        <p:nvSpPr>
          <p:cNvPr id="47" name="Text 44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AECBF3CB-AFF3-7314-4574-4A582279B5EE}"/>
              </a:ext>
            </a:extLst>
          </p:cNvPr>
          <p:cNvSpPr/>
          <p:nvPr/>
        </p:nvSpPr>
        <p:spPr>
          <a:xfrm>
            <a:off x="441960" y="4544568"/>
            <a:ext cx="805180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IN" sz="1200" dirty="0"/>
              <a:t>This is an Order-to-Delivery control tower. Every stage - dispatch, route, delivery, settlement - maps to </a:t>
            </a:r>
            <a:r>
              <a:rPr lang="en-IN" sz="1200" dirty="0" err="1"/>
              <a:t>OtD</a:t>
            </a:r>
            <a:r>
              <a:rPr lang="en-IN" sz="1200" dirty="0"/>
              <a:t> performance: on-time delivery rate, dispatch cycle time, exception-to-resolution time, order fulfilment accuracy.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F3E762A-4EA9-C61A-64DE-932C318EFC5F}"/>
              </a:ext>
            </a:extLst>
          </p:cNvPr>
          <p:cNvSpPr/>
          <p:nvPr/>
        </p:nvSpPr>
        <p:spPr>
          <a:xfrm>
            <a:off x="6821424" y="2814320"/>
            <a:ext cx="1865376" cy="54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latin typeface="Aptos" panose="020B0004020202020204" pitchFamily="34" charset="0"/>
              </a:rPr>
              <a:t>Beyond Visibility</a:t>
            </a:r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75B9D8DF-63BE-0D27-22D4-657871544837}"/>
              </a:ext>
            </a:extLst>
          </p:cNvPr>
          <p:cNvSpPr/>
          <p:nvPr/>
        </p:nvSpPr>
        <p:spPr>
          <a:xfrm>
            <a:off x="7018528" y="3310128"/>
            <a:ext cx="1353312" cy="1120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IN" sz="1000" dirty="0">
                <a:latin typeface="Aptos" panose="020B0004020202020204" pitchFamily="34" charset="0"/>
              </a:rPr>
              <a:t>Visibility platforms flag exceptions; AIONOS closes the loop;  each trigger is a governed, audited decision built for regulated, safety-critical movement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scorecard for Shell intra-city fuel logistics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measurable outcomes for a 90-day pilot. Baselines to be validated with Shell operational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1 OF 2: DG LOGISTICS</a:t>
            </a:r>
            <a:endParaRPr lang="en-US" sz="11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6504031-31CB-611D-0479-553CED6D3488}"/>
              </a:ext>
            </a:extLst>
          </p:cNvPr>
          <p:cNvGrpSpPr/>
          <p:nvPr/>
        </p:nvGrpSpPr>
        <p:grpSpPr>
          <a:xfrm>
            <a:off x="457200" y="1234440"/>
            <a:ext cx="11301984" cy="4275328"/>
            <a:chOff x="457200" y="1234440"/>
            <a:chExt cx="11301984" cy="2651760"/>
          </a:xfrm>
        </p:grpSpPr>
        <p:sp>
          <p:nvSpPr>
            <p:cNvPr id="7" name="Shape 5"/>
            <p:cNvSpPr/>
            <p:nvPr/>
          </p:nvSpPr>
          <p:spPr>
            <a:xfrm>
              <a:off x="457200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234440"/>
              <a:ext cx="82296" cy="1234440"/>
            </a:xfrm>
            <a:prstGeom prst="rect">
              <a:avLst/>
            </a:prstGeom>
            <a:solidFill>
              <a:srgbClr val="E24C4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76656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Safety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76656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E24C4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Fewer preventable exceptions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76656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5000"/>
                </a:lnSpc>
              </a:pPr>
              <a:r>
                <a:rPr lang="en-IN" sz="1000" dirty="0">
                  <a:latin typeface="Aptos" panose="020B0004020202020204" pitchFamily="34" charset="0"/>
                </a:rPr>
                <a:t>Route/deviation alerts, fatigue risk detection, unsafe-stop detection, </a:t>
              </a:r>
              <a:r>
                <a:rPr lang="en-IN" sz="1000" b="1" dirty="0">
                  <a:latin typeface="Aptos" panose="020B0004020202020204" pitchFamily="34" charset="0"/>
                </a:rPr>
                <a:t>DG classification and ADR/hazmat compliance checks, near-miss pattern surfacing for HSSE review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4279392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/>
            <p:cNvSpPr/>
            <p:nvPr/>
          </p:nvSpPr>
          <p:spPr>
            <a:xfrm>
              <a:off x="4279392" y="1234440"/>
              <a:ext cx="82296" cy="1234440"/>
            </a:xfrm>
            <a:prstGeom prst="rect">
              <a:avLst/>
            </a:prstGeom>
            <a:solidFill>
              <a:srgbClr val="1B93A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4498848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Service</a:t>
              </a:r>
              <a:endParaRPr lang="en-US" sz="13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98848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B93A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Higher on-time delivery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98848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ETA confidence and station replenishment priority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101584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8101584" y="1234440"/>
              <a:ext cx="82296" cy="1234440"/>
            </a:xfrm>
            <a:prstGeom prst="rect">
              <a:avLst/>
            </a:prstGeom>
            <a:solidFill>
              <a:srgbClr val="00A87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8321040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Cost</a:t>
              </a:r>
              <a:endParaRPr lang="en-US" sz="13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321040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00A8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Fewer avoidable miles</a:t>
              </a:r>
              <a:endParaRPr lang="en-US" sz="11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321040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Route optimization, dispatch sequencing, asset utilization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57200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2651760"/>
              <a:ext cx="82296" cy="1234440"/>
            </a:xfrm>
            <a:prstGeom prst="rect">
              <a:avLst/>
            </a:prstGeom>
            <a:solidFill>
              <a:srgbClr val="1623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22"/>
            <p:cNvSpPr/>
            <p:nvPr/>
          </p:nvSpPr>
          <p:spPr>
            <a:xfrm>
              <a:off x="676656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Compliance</a:t>
              </a:r>
              <a:endParaRPr lang="en-US" sz="13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76656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100% trip dossier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76656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Permit, SOP, ePOD, incident and audit evidence chain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279392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26"/>
            <p:cNvSpPr/>
            <p:nvPr/>
          </p:nvSpPr>
          <p:spPr>
            <a:xfrm>
              <a:off x="4279392" y="2651760"/>
              <a:ext cx="82296" cy="1234440"/>
            </a:xfrm>
            <a:prstGeom prst="rect">
              <a:avLst/>
            </a:prstGeom>
            <a:solidFill>
              <a:srgbClr val="F5891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7"/>
            <p:cNvSpPr/>
            <p:nvPr/>
          </p:nvSpPr>
          <p:spPr>
            <a:xfrm>
              <a:off x="4498848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Working capital</a:t>
              </a:r>
              <a:endParaRPr lang="en-US" sz="13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498848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F589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Lower dispute ageing</a:t>
              </a:r>
              <a:endParaRPr lang="en-US" sz="11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498848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Quantity reconciliation and faster claim closure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101584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8101584" y="2651760"/>
              <a:ext cx="82296" cy="1234440"/>
            </a:xfrm>
            <a:prstGeom prst="rect">
              <a:avLst/>
            </a:prstGeom>
            <a:solidFill>
              <a:srgbClr val="2C5CC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8321040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Customer experience</a:t>
              </a:r>
              <a:endParaRPr lang="en-US" sz="13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321040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2C5CC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Higher station confidence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321040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Proactive ETA, issue escalation, delivery transparency</a:t>
              </a:r>
              <a:endParaRPr lang="en-US" sz="10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8DEF49-5D41-02B6-A732-5958BAB76DB3}"/>
              </a:ext>
            </a:extLst>
          </p:cNvPr>
          <p:cNvGrpSpPr/>
          <p:nvPr/>
        </p:nvGrpSpPr>
        <p:grpSpPr>
          <a:xfrm>
            <a:off x="457200" y="5694680"/>
            <a:ext cx="11292840" cy="889000"/>
            <a:chOff x="457200" y="3977640"/>
            <a:chExt cx="11292840" cy="594360"/>
          </a:xfrm>
        </p:grpSpPr>
        <p:sp>
          <p:nvSpPr>
            <p:cNvPr id="37" name="Shape 35"/>
            <p:cNvSpPr/>
            <p:nvPr/>
          </p:nvSpPr>
          <p:spPr>
            <a:xfrm>
              <a:off x="457200" y="3977640"/>
              <a:ext cx="11292840" cy="594360"/>
            </a:xfrm>
            <a:prstGeom prst="rect">
              <a:avLst/>
            </a:prstGeom>
            <a:solidFill>
              <a:srgbClr val="EAF6F6"/>
            </a:solidFill>
            <a:ln w="12700">
              <a:solidFill>
                <a:srgbClr val="1B93A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6"/>
            <p:cNvSpPr/>
            <p:nvPr/>
          </p:nvSpPr>
          <p:spPr>
            <a:xfrm>
              <a:off x="640080" y="3977640"/>
              <a:ext cx="109728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i="1" dirty="0">
                  <a:solidFill>
                    <a:srgbClr val="16657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AIONOS changes the management conversation from “what happened?” to “what should we prevent, accelerate and prove next?”</a:t>
              </a:r>
            </a:p>
            <a:p>
              <a:pPr marL="0" indent="0" algn="ctr">
                <a:buNone/>
              </a:pPr>
              <a:endParaRPr lang="en-US" sz="1250" b="1" i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pPr algn="ctr"/>
              <a:r>
                <a:rPr lang="en-IN" sz="1250" b="1" i="1" dirty="0">
                  <a:solidFill>
                    <a:srgbClr val="16657D"/>
                  </a:solidFill>
                  <a:latin typeface="Aptos" pitchFamily="34" charset="0"/>
                </a:rPr>
                <a:t>Built to plug into existing HSSE incident reporting and near-miss review cycles — not a parallel safety system.</a:t>
              </a:r>
              <a:endParaRPr lang="en-US" sz="1250" b="1" i="1" dirty="0">
                <a:solidFill>
                  <a:srgbClr val="16657D"/>
                </a:solidFill>
                <a:latin typeface="Aptos" pitchFamily="34" charset="0"/>
              </a:endParaRPr>
            </a:p>
          </p:txBody>
        </p:sp>
      </p:grpSp>
      <p:sp>
        <p:nvSpPr>
          <p:cNvPr id="39" name="Text 37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+ Accounts Payable Co-Pilot for Shell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agentic layer to improve vendor experience, payment reliability and auditability across source-to-pay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2 OF 2: S2P CO-PILOT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2064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/ demand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37944" y="123444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92808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92808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RFQ, vendor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73552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73552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Terms, obligations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9432" y="123444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54296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54296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Approval, budgets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0176" y="123444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35040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0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 / service entry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60920" y="1234440"/>
            <a:ext cx="1325880" cy="960120"/>
          </a:xfrm>
          <a:prstGeom prst="rect">
            <a:avLst/>
          </a:prstGeom>
          <a:solidFill>
            <a:srgbClr val="FDF0E2"/>
          </a:solidFill>
          <a:ln w="12700">
            <a:solidFill>
              <a:srgbClr val="F589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15784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15784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3-way match, tax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41664" y="1234440"/>
            <a:ext cx="1325880" cy="960120"/>
          </a:xfrm>
          <a:prstGeom prst="rect">
            <a:avLst/>
          </a:prstGeom>
          <a:solidFill>
            <a:srgbClr val="FDF0E2"/>
          </a:solidFill>
          <a:ln w="12700">
            <a:solidFill>
              <a:srgbClr val="F589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796528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96528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Approval, remittance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22408" y="1234440"/>
            <a:ext cx="1325880" cy="960120"/>
          </a:xfrm>
          <a:prstGeom prst="rect">
            <a:avLst/>
          </a:prstGeom>
          <a:solidFill>
            <a:srgbClr val="FDF0E2"/>
          </a:solidFill>
          <a:ln w="12700">
            <a:solidFill>
              <a:srgbClr val="F589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177272" y="12984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77272" y="1572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31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Co-Pilot Capabilities</a:t>
            </a:r>
            <a:endParaRPr lang="en-US" sz="17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8B83A8-37F0-2B5F-FB73-5DCB410B6561}"/>
              </a:ext>
            </a:extLst>
          </p:cNvPr>
          <p:cNvGrpSpPr/>
          <p:nvPr/>
        </p:nvGrpSpPr>
        <p:grpSpPr>
          <a:xfrm>
            <a:off x="457200" y="3622040"/>
            <a:ext cx="11292840" cy="2331720"/>
            <a:chOff x="457200" y="2880360"/>
            <a:chExt cx="11292840" cy="2880360"/>
          </a:xfrm>
        </p:grpSpPr>
        <p:sp>
          <p:nvSpPr>
            <p:cNvPr id="32" name="Shape 30"/>
            <p:cNvSpPr/>
            <p:nvPr/>
          </p:nvSpPr>
          <p:spPr>
            <a:xfrm>
              <a:off x="457200" y="2880360"/>
              <a:ext cx="324612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457200" y="2880360"/>
              <a:ext cx="82296" cy="1371600"/>
            </a:xfrm>
            <a:prstGeom prst="rect">
              <a:avLst/>
            </a:prstGeom>
            <a:solidFill>
              <a:srgbClr val="1B93A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676656" y="3008376"/>
              <a:ext cx="2880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Vendor experience</a:t>
              </a:r>
              <a:endParaRPr lang="en-US" sz="13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76656" y="3374136"/>
              <a:ext cx="28803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Self-service status, dispute triage, SLA promises</a:t>
              </a:r>
              <a:endParaRPr lang="en-US" sz="10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886200" y="2880360"/>
              <a:ext cx="324612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35"/>
            <p:cNvSpPr/>
            <p:nvPr/>
          </p:nvSpPr>
          <p:spPr>
            <a:xfrm>
              <a:off x="3886200" y="2880360"/>
              <a:ext cx="82296" cy="1371600"/>
            </a:xfrm>
            <a:prstGeom prst="rect">
              <a:avLst/>
            </a:prstGeom>
            <a:solidFill>
              <a:srgbClr val="F5891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6"/>
            <p:cNvSpPr/>
            <p:nvPr/>
          </p:nvSpPr>
          <p:spPr>
            <a:xfrm>
              <a:off x="4105656" y="3008376"/>
              <a:ext cx="2880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Payment intelligence</a:t>
              </a:r>
              <a:endParaRPr lang="en-US" sz="13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105656" y="3374136"/>
              <a:ext cx="28803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Cash-flow visibility, blocked invoice reasoning, payment run simulation</a:t>
              </a:r>
              <a:endParaRPr lang="en-US" sz="10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57200" y="4389120"/>
              <a:ext cx="324612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Shape 39"/>
            <p:cNvSpPr/>
            <p:nvPr/>
          </p:nvSpPr>
          <p:spPr>
            <a:xfrm>
              <a:off x="457200" y="4389120"/>
              <a:ext cx="82296" cy="1371600"/>
            </a:xfrm>
            <a:prstGeom prst="rect">
              <a:avLst/>
            </a:prstGeom>
            <a:solidFill>
              <a:srgbClr val="1623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40"/>
            <p:cNvSpPr/>
            <p:nvPr/>
          </p:nvSpPr>
          <p:spPr>
            <a:xfrm>
              <a:off x="676656" y="4517136"/>
              <a:ext cx="2880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Controls automation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76656" y="4882896"/>
              <a:ext cx="28803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Policy checks, SoD, duplicate invoice and tax/TDS validations</a:t>
              </a:r>
              <a:endParaRPr lang="en-US" sz="10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3886200" y="4389120"/>
              <a:ext cx="324612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Shape 43"/>
            <p:cNvSpPr/>
            <p:nvPr/>
          </p:nvSpPr>
          <p:spPr>
            <a:xfrm>
              <a:off x="3886200" y="4389120"/>
              <a:ext cx="82296" cy="1371600"/>
            </a:xfrm>
            <a:prstGeom prst="rect">
              <a:avLst/>
            </a:prstGeom>
            <a:solidFill>
              <a:srgbClr val="00A87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 44"/>
            <p:cNvSpPr/>
            <p:nvPr/>
          </p:nvSpPr>
          <p:spPr>
            <a:xfrm>
              <a:off x="4105656" y="4517136"/>
              <a:ext cx="2880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Auditability</a:t>
              </a:r>
              <a:endParaRPr lang="en-US" sz="13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105656" y="4882896"/>
              <a:ext cx="28803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Document lineage, approval trail, exception resolution, evidence pack</a:t>
              </a:r>
              <a:endParaRPr lang="en-US" sz="1050" dirty="0"/>
            </a:p>
          </p:txBody>
        </p:sp>
        <p:pic>
          <p:nvPicPr>
            <p:cNvPr id="48" name="Image 0" descr="/home/claude/assets/s2p_process.jp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635240" y="2880360"/>
              <a:ext cx="4114800" cy="2606040"/>
            </a:xfrm>
            <a:prstGeom prst="rect">
              <a:avLst/>
            </a:prstGeom>
          </p:spPr>
        </p:pic>
      </p:grpSp>
      <p:sp>
        <p:nvSpPr>
          <p:cNvPr id="49" name="Shape 46"/>
          <p:cNvSpPr/>
          <p:nvPr/>
        </p:nvSpPr>
        <p:spPr>
          <a:xfrm>
            <a:off x="457200" y="6045200"/>
            <a:ext cx="11292840" cy="50292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as an overlay on existing ERP and procurement platforms, not a disruptive rip-and-replace. </a:t>
            </a:r>
            <a:r>
              <a:rPr lang="en-IN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S2P platform runs the transaction. AIONOS runs the judgment layer on top; the vendor experience, exception reasoning and audit trail your platform's native AI roadmap won't reach for another 2-3 release cycles.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57200" y="6045200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E372C9F6-57C3-5C4C-D1D5-0A93090B812F}"/>
              </a:ext>
            </a:extLst>
          </p:cNvPr>
          <p:cNvSpPr/>
          <p:nvPr/>
        </p:nvSpPr>
        <p:spPr>
          <a:xfrm>
            <a:off x="441960" y="2257552"/>
            <a:ext cx="11006328" cy="893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IN" sz="1200" b="1" dirty="0"/>
              <a:t>How this connects to Order-to-Delivery performance</a:t>
            </a:r>
            <a:br>
              <a:rPr lang="en-IN" sz="1200" dirty="0"/>
            </a:br>
            <a:r>
              <a:rPr lang="en-IN" sz="1200" dirty="0"/>
              <a:t>Dispatch cycle time → Route risk scoring → On-time delivery rate → Exception dwell time → </a:t>
            </a:r>
            <a:r>
              <a:rPr lang="en-IN" sz="1200" dirty="0" err="1"/>
              <a:t>OtD</a:t>
            </a:r>
            <a:r>
              <a:rPr lang="en-IN" sz="1200" dirty="0"/>
              <a:t> dossier completeness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Every metric on the DG logistics scorecard (slide 9) rolls up into the same </a:t>
            </a:r>
            <a:r>
              <a:rPr lang="en-IN" sz="1200" dirty="0" err="1"/>
              <a:t>OtD</a:t>
            </a:r>
            <a:r>
              <a:rPr lang="en-IN" sz="1200" dirty="0"/>
              <a:t> performance metrics Shell already tracks globally.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scorecard for Shell source-to-pay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measurable outcomes for a 90-day pilot. Baselines to be validated with Shell operational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22815" y="292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2 OF 2: S2P CO-PILOT</a:t>
            </a:r>
            <a:endParaRPr lang="en-US" sz="11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EBEF90-EB0D-0E2B-D717-E3461132368D}"/>
              </a:ext>
            </a:extLst>
          </p:cNvPr>
          <p:cNvGrpSpPr/>
          <p:nvPr/>
        </p:nvGrpSpPr>
        <p:grpSpPr>
          <a:xfrm>
            <a:off x="457200" y="1234440"/>
            <a:ext cx="11301984" cy="3632200"/>
            <a:chOff x="457200" y="1234440"/>
            <a:chExt cx="11301984" cy="2651760"/>
          </a:xfrm>
        </p:grpSpPr>
        <p:sp>
          <p:nvSpPr>
            <p:cNvPr id="7" name="Shape 5"/>
            <p:cNvSpPr/>
            <p:nvPr/>
          </p:nvSpPr>
          <p:spPr>
            <a:xfrm>
              <a:off x="457200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234440"/>
              <a:ext cx="82296" cy="1234440"/>
            </a:xfrm>
            <a:prstGeom prst="rect">
              <a:avLst/>
            </a:prstGeom>
            <a:solidFill>
              <a:srgbClr val="1B93A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76656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Vendor experience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76656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B93A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Higher vendor satisfaction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76656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Self-service status, faster dispute triage, clear SLA promises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79392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/>
            <p:cNvSpPr/>
            <p:nvPr/>
          </p:nvSpPr>
          <p:spPr>
            <a:xfrm>
              <a:off x="4279392" y="1234440"/>
              <a:ext cx="82296" cy="1234440"/>
            </a:xfrm>
            <a:prstGeom prst="rect">
              <a:avLst/>
            </a:prstGeom>
            <a:solidFill>
              <a:srgbClr val="F5891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4498848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Payment predictability</a:t>
              </a:r>
              <a:endParaRPr lang="en-US" sz="13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98848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F5891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Higher on-time payment rate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98848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Cash-flow visibility and payment run simulation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101584" y="123444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8101584" y="1234440"/>
              <a:ext cx="82296" cy="1234440"/>
            </a:xfrm>
            <a:prstGeom prst="rect">
              <a:avLst/>
            </a:prstGeom>
            <a:solidFill>
              <a:srgbClr val="00A87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8321040" y="134416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Working capital</a:t>
              </a:r>
              <a:endParaRPr lang="en-US" sz="13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321040" y="165506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00A8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Lower DPO leakage</a:t>
              </a:r>
              <a:endParaRPr lang="en-US" sz="11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321040" y="194767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Early-payment capture and reduced manual reconciliation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57200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2651760"/>
              <a:ext cx="82296" cy="1234440"/>
            </a:xfrm>
            <a:prstGeom prst="rect">
              <a:avLst/>
            </a:prstGeom>
            <a:solidFill>
              <a:srgbClr val="16233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 22"/>
            <p:cNvSpPr/>
            <p:nvPr/>
          </p:nvSpPr>
          <p:spPr>
            <a:xfrm>
              <a:off x="676656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Controls and compliance</a:t>
              </a:r>
              <a:endParaRPr lang="en-US" sz="13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76656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Fewer policy exceptions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76656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SoD, duplicate invoice and tax/TDS validation catch rate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279392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26"/>
            <p:cNvSpPr/>
            <p:nvPr/>
          </p:nvSpPr>
          <p:spPr>
            <a:xfrm>
              <a:off x="4279392" y="2651760"/>
              <a:ext cx="82296" cy="1234440"/>
            </a:xfrm>
            <a:prstGeom prst="rect">
              <a:avLst/>
            </a:prstGeom>
            <a:solidFill>
              <a:srgbClr val="8E44A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7"/>
            <p:cNvSpPr/>
            <p:nvPr/>
          </p:nvSpPr>
          <p:spPr>
            <a:xfrm>
              <a:off x="4498848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Audit readiness</a:t>
              </a:r>
              <a:endParaRPr lang="en-US" sz="13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498848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8E44A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100% audit evidence pack</a:t>
              </a:r>
              <a:endParaRPr lang="en-US" sz="11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498848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Document lineage and approval trail on every transaction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101584" y="2651760"/>
              <a:ext cx="3657600" cy="1234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8101584" y="2651760"/>
              <a:ext cx="82296" cy="1234440"/>
            </a:xfrm>
            <a:prstGeom prst="rect">
              <a:avLst/>
            </a:prstGeom>
            <a:solidFill>
              <a:srgbClr val="2C5CC5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8321040" y="276148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623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Cycle time</a:t>
              </a:r>
              <a:endParaRPr lang="en-US" sz="13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321040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2C5CC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Faster invoice-to-pay cycle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321040" y="3364992"/>
              <a:ext cx="3291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3-way match automation and exception triage</a:t>
              </a:r>
              <a:endParaRPr lang="en-US" sz="10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43C4ED-A251-8B22-6109-8CC43B167082}"/>
              </a:ext>
            </a:extLst>
          </p:cNvPr>
          <p:cNvGrpSpPr/>
          <p:nvPr/>
        </p:nvGrpSpPr>
        <p:grpSpPr>
          <a:xfrm>
            <a:off x="467360" y="5074920"/>
            <a:ext cx="11292840" cy="1069848"/>
            <a:chOff x="467360" y="3977640"/>
            <a:chExt cx="11292840" cy="594360"/>
          </a:xfrm>
        </p:grpSpPr>
        <p:sp>
          <p:nvSpPr>
            <p:cNvPr id="37" name="Shape 35"/>
            <p:cNvSpPr/>
            <p:nvPr/>
          </p:nvSpPr>
          <p:spPr>
            <a:xfrm>
              <a:off x="467360" y="3977640"/>
              <a:ext cx="11292840" cy="594360"/>
            </a:xfrm>
            <a:prstGeom prst="rect">
              <a:avLst/>
            </a:prstGeom>
            <a:solidFill>
              <a:srgbClr val="FDF0E2"/>
            </a:solidFill>
            <a:ln w="12700">
              <a:solidFill>
                <a:srgbClr val="F589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6"/>
            <p:cNvSpPr/>
            <p:nvPr/>
          </p:nvSpPr>
          <p:spPr>
            <a:xfrm>
              <a:off x="640080" y="3977640"/>
              <a:ext cx="109728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i="1" dirty="0">
                  <a:solidFill>
                    <a:srgbClr val="B35C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 commercial model is the point: AI is rewarded for real operational impact, not licences or model minutes.</a:t>
              </a:r>
            </a:p>
            <a:p>
              <a:pPr marL="0" indent="0" algn="ctr">
                <a:buNone/>
              </a:pPr>
              <a:endParaRPr lang="en-US" sz="1250" b="1" i="1" dirty="0">
                <a:solidFill>
                  <a:srgbClr val="B35C00"/>
                </a:solidFill>
                <a:latin typeface="Aptos" pitchFamily="34" charset="0"/>
              </a:endParaRPr>
            </a:p>
            <a:p>
              <a:pPr algn="ctr"/>
              <a:r>
                <a:rPr lang="en-IN" sz="1250" b="1" i="1" dirty="0">
                  <a:solidFill>
                    <a:srgbClr val="B35C00"/>
                  </a:solidFill>
                  <a:latin typeface="Aptos" pitchFamily="34" charset="0"/>
                </a:rPr>
                <a:t>This mirrors the discipline Shell is already applying internally — prioritising the parts of the portfolio that are genuinely profitable and funding what proves impact, not what consumes licences or model minutes.</a:t>
              </a:r>
              <a:endParaRPr lang="en-US" sz="1250" b="1" i="1" dirty="0">
                <a:solidFill>
                  <a:srgbClr val="B35C00"/>
                </a:solidFill>
                <a:latin typeface="Aptos" pitchFamily="34" charset="0"/>
              </a:endParaRPr>
            </a:p>
          </p:txBody>
        </p:sp>
      </p:grpSp>
      <p:sp>
        <p:nvSpPr>
          <p:cNvPr id="39" name="Text 37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B0D2689A-7E71-7D77-1C5D-BBF3D2A4F184}"/>
              </a:ext>
            </a:extLst>
          </p:cNvPr>
          <p:cNvSpPr/>
          <p:nvPr/>
        </p:nvSpPr>
        <p:spPr>
          <a:xfrm>
            <a:off x="9834880" y="6250795"/>
            <a:ext cx="1925320" cy="314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IN" sz="1400" dirty="0">
                <a:hlinkClick r:id="rId3" tooltip="https://abhishekprabudha.github.io/account-payables-co-pilot/"/>
              </a:rPr>
              <a:t>Account Payables Copilot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 first-of-a-kind bet for Shell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has delivered comparable AI-led control towers across complex, regulated, safety-critical operations elsewhere</a:t>
            </a:r>
            <a:endParaRPr lang="en-US" sz="1350" dirty="0"/>
          </a:p>
        </p:txBody>
      </p:sp>
      <p:pic>
        <p:nvPicPr>
          <p:cNvPr id="4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1488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697480" cy="365760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&amp; DEFENCE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2651760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contract intelligence in an export-controlled, in-situ environment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4944" y="4160520"/>
            <a:ext cx="2404872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94944" y="4160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 extraction accuracy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21488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83280" y="2148840"/>
            <a:ext cx="2697480" cy="36576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38328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MANUFACTURING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9584" y="2651760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document intelligence for the world's largest aircraft manufacturer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529584" y="4160520"/>
            <a:ext cx="2404872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529584" y="4160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faster time-to-market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21488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17920" y="2148840"/>
            <a:ext cx="2697480" cy="365760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1792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64224" y="2651760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and disruption control tower for a large Saudi carrier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64224" y="4160520"/>
            <a:ext cx="2404872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64224" y="4160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faster recovery decisions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052560" y="21488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9052560" y="2148840"/>
            <a:ext cx="2697480" cy="365760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905256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&amp; RESOURCES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98864" y="2651760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and licence compliance cockpit across thermal power and mining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198864" y="4160520"/>
            <a:ext cx="2404872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198864" y="4160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faster licence diligence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202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proof points and detail follow. Case studies available in Appendix.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EBEE017-8A86-E0EE-273B-6AC624EBBD26}"/>
              </a:ext>
            </a:extLst>
          </p:cNvPr>
          <p:cNvSpPr/>
          <p:nvPr/>
        </p:nvSpPr>
        <p:spPr>
          <a:xfrm>
            <a:off x="548640" y="5250180"/>
            <a:ext cx="11201400" cy="49225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i="1" dirty="0">
                <a:solidFill>
                  <a:schemeClr val="bg1"/>
                </a:solidFill>
              </a:rPr>
              <a:t>Also launching AI led Healthcare automation for UPS India (Movin)</a:t>
            </a:r>
            <a:endParaRPr lang="en-US" sz="12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ve_l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at Scale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outcomes across complex enterprise environments</a:t>
            </a:r>
            <a:endParaRPr lang="en-US" sz="1400" dirty="0"/>
          </a:p>
        </p:txBody>
      </p:sp>
      <p:pic>
        <p:nvPicPr>
          <p:cNvPr id="7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Proof Points &amp; Reference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Demonstrated outcomes across complex enterprise environments</a:t>
            </a:r>
            <a:endParaRPr lang="en-US" sz="1300" dirty="0"/>
          </a:p>
        </p:txBody>
      </p:sp>
      <p:pic>
        <p:nvPicPr>
          <p:cNvPr id="4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4000" y="1188720"/>
            <a:ext cx="26974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4000" y="1188720"/>
            <a:ext cx="2697480" cy="3657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4000" y="1188720"/>
            <a:ext cx="2697480" cy="365760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4000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&amp; DEFENCE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2016" y="1664208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Intelligence &amp; Authoring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2016" y="2331720"/>
            <a:ext cx="2441448" cy="1051560"/>
          </a:xfrm>
          <a:prstGeom prst="rect">
            <a:avLst/>
          </a:prstGeom>
          <a:solidFill>
            <a:srgbClr val="E8EE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5168" y="2331720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European aerospace and defence major needed governed contract analysis and creation in an export-controlled, fully in-situ environment.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2016" y="34930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0304" y="3831336"/>
            <a:ext cx="64008" cy="128016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6608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 extraction accuracy across clause-heavy contracts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0304" y="4315968"/>
            <a:ext cx="64008" cy="128016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46608" y="4270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 faster contract review and drafting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0304" y="4800600"/>
            <a:ext cx="64008" cy="128016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6608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8+ document types unified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0304" y="5285232"/>
            <a:ext cx="64008" cy="128016"/>
          </a:xfrm>
          <a:prstGeom prst="rect">
            <a:avLst/>
          </a:prstGeom>
          <a:solidFill>
            <a:srgbClr val="2C5C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46608" y="5239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in-situ, export-control compliant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4000" y="5989320"/>
            <a:ext cx="2697480" cy="274320"/>
          </a:xfrm>
          <a:prstGeom prst="rect">
            <a:avLst/>
          </a:prstGeom>
          <a:solidFill>
            <a:srgbClr val="E8EE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45440" y="5989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Platform: UniStack + AI Foundry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16072" y="1188720"/>
            <a:ext cx="26974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316072" y="1188720"/>
            <a:ext cx="2697480" cy="3657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316072" y="1188720"/>
            <a:ext cx="2697480" cy="36576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316072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MANUFACTURING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44088" y="1664208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Document Intelligence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444088" y="2331720"/>
            <a:ext cx="2441448" cy="1051560"/>
          </a:xfrm>
          <a:prstGeom prst="rect">
            <a:avLst/>
          </a:prstGeom>
          <a:solidFill>
            <a:srgbClr val="E4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517240" y="2331720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World's largest aircraft manufacturer with decades of specifications and drawings locked in unstructured documents.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44088" y="34930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62376" y="3831336"/>
            <a:ext cx="64008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608680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faster time-to-market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462376" y="4315968"/>
            <a:ext cx="64008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608680" y="4270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 fewer defects before prototype stage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62376" y="4800600"/>
            <a:ext cx="64008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360868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 faster decision cycles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62376" y="5285232"/>
            <a:ext cx="64008" cy="128016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608680" y="5239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lower development effort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316072" y="5989320"/>
            <a:ext cx="2697480" cy="274320"/>
          </a:xfrm>
          <a:prstGeom prst="rect">
            <a:avLst/>
          </a:prstGeom>
          <a:solidFill>
            <a:srgbClr val="E4F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407512" y="5989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Platform: UniStack + AI Foundry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178144" y="1188720"/>
            <a:ext cx="26974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6178144" y="1188720"/>
            <a:ext cx="2697480" cy="3657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6178144" y="1188720"/>
            <a:ext cx="2697480" cy="365760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6178144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AVIATION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306160" y="1664208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Airline Network Management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306160" y="2331720"/>
            <a:ext cx="2441448" cy="1051560"/>
          </a:xfrm>
          <a:prstGeom prst="rect">
            <a:avLst/>
          </a:prstGeom>
          <a:solidFill>
            <a:srgbClr val="E3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379312" y="2331720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Saudi full-service carrier managing disruption and capacity decisions manually across a peak-heavy hub network.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06160" y="34930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324448" y="3831336"/>
            <a:ext cx="64008" cy="128016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6470752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 pts on-time performance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324448" y="4315968"/>
            <a:ext cx="64008" cy="128016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6470752" y="4270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faster recovery decisioning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324448" y="4800600"/>
            <a:ext cx="64008" cy="128016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470752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fewer downline misconnections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324448" y="5285232"/>
            <a:ext cx="64008" cy="128016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6470752" y="5239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24x7 network watch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6178144" y="5989320"/>
            <a:ext cx="2697480" cy="274320"/>
          </a:xfrm>
          <a:prstGeom prst="rect">
            <a:avLst/>
          </a:prstGeom>
          <a:solidFill>
            <a:srgbClr val="E3F5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6269584" y="5989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Platform: UniScale + UniStack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9040216" y="1188720"/>
            <a:ext cx="26974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9040216" y="1188720"/>
            <a:ext cx="2697480" cy="3657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9040216" y="1188720"/>
            <a:ext cx="2697480" cy="365760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9040216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&amp; RESOURCES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9168232" y="1664208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Power &amp; Mining Contract Intelligence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9168232" y="2331720"/>
            <a:ext cx="2441448" cy="1051560"/>
          </a:xfrm>
          <a:prstGeom prst="rect">
            <a:avLst/>
          </a:prstGeom>
          <a:solidFill>
            <a:srgbClr val="FDF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9241384" y="2331720"/>
            <a:ext cx="2295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thermal power and captive-mining ecosystem with PPAs, leases and permits spread across plants, mines and vendors.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9168232" y="349300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Results: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9186520" y="3831336"/>
            <a:ext cx="64008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9332824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12K+ clauses and licence conditions indexed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9186520" y="4315968"/>
            <a:ext cx="64008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9332824" y="42702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 extraction accuracy target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9186520" y="4800600"/>
            <a:ext cx="64008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9332824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faster licence diligence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9186520" y="5285232"/>
            <a:ext cx="64008" cy="128016"/>
          </a:xfrm>
          <a:prstGeom prst="rect">
            <a:avLst/>
          </a:prstGeom>
          <a:solidFill>
            <a:srgbClr val="F58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9332824" y="5239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24x7 expiry and penalty alerts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9040216" y="5989320"/>
            <a:ext cx="2697480" cy="274320"/>
          </a:xfrm>
          <a:prstGeom prst="rect">
            <a:avLst/>
          </a:prstGeom>
          <a:solidFill>
            <a:srgbClr val="FDF0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9131656" y="5989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8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Platform: UniStack + AI Foundry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Path Forward with Shell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92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sz="1300" b="1" i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staged, low-risk path — funded by outcomes, not commitments — built for a moment when every initiative has to earn its place in the portfolio.</a:t>
            </a:r>
            <a:endParaRPr lang="en-US" sz="1300" b="1" dirty="0"/>
          </a:p>
        </p:txBody>
      </p:sp>
      <p:pic>
        <p:nvPicPr>
          <p:cNvPr id="4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3611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611880" cy="45720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03504" y="12801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Discovery &amp; Alignment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3504" y="1828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to 3 weeks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" y="2148840"/>
            <a:ext cx="3319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baselines for both pillars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data access and system owners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success metrics and pilot scope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9080" y="1280160"/>
            <a:ext cx="228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97680" y="1280160"/>
            <a:ext cx="3611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9"/>
          <p:cNvSpPr/>
          <p:nvPr/>
        </p:nvSpPr>
        <p:spPr>
          <a:xfrm>
            <a:off x="4297680" y="1280160"/>
            <a:ext cx="3611880" cy="457200"/>
          </a:xfrm>
          <a:prstGeom prst="rect">
            <a:avLst/>
          </a:prstGeom>
          <a:solidFill>
            <a:srgbClr val="1B9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43984" y="12801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60-Day Pilot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43984" y="1828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control tower per pillar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43984" y="2148840"/>
            <a:ext cx="3319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DG Logistics: dispatch, route risk, exception management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S2P: invoice matching, vendor self-service, controls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outcome tracking against scorecards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1280160"/>
            <a:ext cx="228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D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38160" y="1280160"/>
            <a:ext cx="3611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18" name="Shape 15"/>
          <p:cNvSpPr/>
          <p:nvPr/>
        </p:nvSpPr>
        <p:spPr>
          <a:xfrm>
            <a:off x="8138160" y="1280160"/>
            <a:ext cx="3611880" cy="457200"/>
          </a:xfrm>
          <a:prstGeom prst="rect">
            <a:avLst/>
          </a:prstGeom>
          <a:solidFill>
            <a:srgbClr val="00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284464" y="128016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Scale &amp; Operating Model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84464" y="1828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A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Post-pilot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84464" y="2148840"/>
            <a:ext cx="3319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to full network and full source-to-pay scope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UniStack + AI Foundry as the operating layer</a:t>
            </a:r>
            <a:endParaRPr lang="en-US" sz="1200" dirty="0"/>
          </a:p>
          <a:p>
            <a:pPr marL="127000" indent="-127000" algn="l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to outcome-based commercial model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343399"/>
            <a:ext cx="11292840" cy="178308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from Shell to start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0080" y="48280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IN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staged, low-risk path designed to prove value fast, before committing to a larger </a:t>
            </a:r>
            <a:r>
              <a:rPr lang="en-IN" sz="12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programme</a:t>
            </a:r>
            <a:endParaRPr lang="en-US" sz="1200" dirty="0">
              <a:solidFill>
                <a:srgbClr val="3333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named pilot sponsor for each pillar</a:t>
            </a:r>
            <a:endParaRPr lang="en-US" sz="1200" dirty="0"/>
          </a:p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access to TMS/telematics data and ERP/procurement data for baselining</a:t>
            </a:r>
            <a:endParaRPr lang="en-US" sz="1200" dirty="0"/>
          </a:p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to 5 stakeholder interviews across OCC, logistics and procurement teams</a:t>
            </a:r>
            <a:endParaRPr lang="en-US" sz="1200" dirty="0"/>
          </a:p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on the 60-day success scorecard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ve_l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B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i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proof point case studies</a:t>
            </a:r>
            <a:endParaRPr lang="en-US" sz="1400" dirty="0"/>
          </a:p>
        </p:txBody>
      </p:sp>
      <p:pic>
        <p:nvPicPr>
          <p:cNvPr id="7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1: Aerospace &amp; Defence Contract Intelligence</a:t>
            </a:r>
            <a:endParaRPr lang="en-US" sz="21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512064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2648" y="1170432"/>
            <a:ext cx="4901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European aerospace &amp; defence major needed a governed AI platform to analyse and author complex programme contracts: RFX packs, offers, procurement manuals and infopacks, all inside a highly secure, export-controlled environment.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715768"/>
            <a:ext cx="5120640" cy="18105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" y="2715768"/>
            <a:ext cx="4828032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knowledge locked in clause-heavy, multi-format documents (Office, PDF, scans) with dense tables and flowcharts</a:t>
            </a:r>
            <a:endParaRPr lang="en-US" sz="11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 and drafting of RFX and offer documents was slow and error-prone, constraining bid turnaround</a:t>
            </a:r>
            <a:endParaRPr lang="en-US" sz="1150" dirty="0"/>
          </a:p>
          <a:p>
            <a:pPr marL="152400" indent="-152400" algn="l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Stringent security posture: all work in-situ on client infrastructure, zero data egress, export-control classification of every deliverable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97880" y="1170432"/>
            <a:ext cx="539496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044184" y="1261872"/>
            <a:ext cx="510235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Due Diligence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contract-document taxonomy (RFX, Offer/Contract, Infopack, Procurement Manual) with automated classification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ingestion across all enterprise formats with single sign-on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OCR + layout-aware VLM parsing of text, clauses, tables, flowcharts and images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Containerised deployment fully on client infrastructure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Intelligence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analysis and authoring workflows with clause-level extraction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compliance checks against procurement rules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validation loops and a KPI framework aligned to the client's AI development standards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8+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436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types unified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29184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accuracy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8932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contract review and drafting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68680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In-situ, export-control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2: Engineering Document Intelligence</a:t>
            </a:r>
            <a:endParaRPr lang="en-US" sz="21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512064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2648" y="1170432"/>
            <a:ext cx="4901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the world's largest aircraft manufacturers held decades of specifications, drawings and tribal engineering knowledge locked in unstructured documents, slowing every engineering decision and handoff across the product lifecycle.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715768"/>
            <a:ext cx="5120640" cy="18105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" y="2715768"/>
            <a:ext cx="4828032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scans, complex drawings and dense technical specifications spread across programmes and repositories</a:t>
            </a:r>
            <a:endParaRPr lang="en-US" sz="11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Tribal knowledge concentrated in senior engineers, not searchable or transferable</a:t>
            </a:r>
            <a:endParaRPr lang="en-US" sz="1150" dirty="0"/>
          </a:p>
          <a:p>
            <a:pPr marL="152400" indent="-152400" algn="l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decision cycles and handoffs across the engineering lifecycle; risk discovered late, at prototype stage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97880" y="1170432"/>
            <a:ext cx="539496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044184" y="1261872"/>
            <a:ext cx="510235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Due Diligence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the engineering document estate across specifications, drawings and lifecycle artefacts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high-value knowledge domains for onboarding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over specifications and drawings with layout-aware extraction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digital thread with MBSE integration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Intelligence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AI/ML that surfaces engineering risk before prototypes are built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retrieval across decades of technical knowledge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SME-validated confidence scoring and expanding domain coverage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436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time-to-market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29184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pre-prototype defects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8932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decision cycles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68680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development effort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3: Airline Network Management</a:t>
            </a:r>
            <a:endParaRPr lang="en-US" sz="21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512064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2648" y="1170432"/>
            <a:ext cx="4901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Saudi full-service carrier operating a dense hub network with extreme seasonal peaks needed AI-led network intelligence: disruptions, schedule changes and capacity decisions were being managed manually across siloed planning and OCC teams.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715768"/>
            <a:ext cx="5120640" cy="18105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" y="2715768"/>
            <a:ext cx="4828032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Disruption recovery decisions (swap, delay, cancel, reprotect) made manually across OCC, crew and passenger silos</a:t>
            </a:r>
            <a:endParaRPr lang="en-US" sz="11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changes rippled unpredictably across fleet, crew pairings and slot commitments</a:t>
            </a:r>
            <a:endParaRPr lang="en-US" sz="1150" dirty="0"/>
          </a:p>
          <a:p>
            <a:pPr marL="152400" indent="-152400" algn="l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peaks stress-tested capacity planning with no fast what-if simulation capability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97880" y="1170432"/>
            <a:ext cx="539496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044184" y="1261872"/>
            <a:ext cx="510235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Due Diligence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the network decision chain across planning, scheduling and the OCC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 disruption-event taxonomy and downstream cost model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for IROPS detection and ranked recovery options with full downstream cost visibility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Tail-assignment and schedule-integrity optimisation as an overlay on existing PSS/OCC systems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Intelligence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control cockpit with live disruption alerts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 simulation for seasonal capacity scenarios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OCC-controller feedback refining recovery playbooks and cost models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 pts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436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On-time performance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29184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recovery decisioning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8932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downline misconnections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24x7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68680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watch across the schedule horizon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4: Thermal Power &amp; Mining Contract Intelligence</a:t>
            </a:r>
            <a:endParaRPr lang="en-US" sz="21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512064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2648" y="1170432"/>
            <a:ext cx="4901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the largest thermal power and captive-mining ecosystems needed a governed way to read PPAs, EPC/O&amp;M contracts, fuel-supply agreements, mining leases, environmental clearances and statutory permits across plants, mines and vendors.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313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715768"/>
            <a:ext cx="5120640" cy="18105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224" y="2715768"/>
            <a:ext cx="4828032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scans and clause-heavy PDFs across contracts, licences and permits</a:t>
            </a:r>
            <a:endParaRPr lang="en-US" sz="11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Obligations spread across renewals, royalties, dispatch, penalties, safety and environmental conditions</a:t>
            </a:r>
            <a:endParaRPr lang="en-US" sz="1150" dirty="0"/>
          </a:p>
          <a:p>
            <a:pPr marL="152400" indent="-152400" algn="l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Expiry, compliance and liability risks were tracked manually across legal, mining, procurement and operations teams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97880" y="777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97880" y="1170432"/>
            <a:ext cx="539496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044184" y="1261872"/>
            <a:ext cx="510235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Due Diligence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PPAs, EPC/O&amp;M, fuel-supply contracts, leases, ECs and permits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plant-mine-vendor-regulator obligation taxonomy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Prioritised expiry, royalty, dispatch, HSE and penalty-risk clauses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Layout-aware OCR/VLM for scans, annexures, tables, maps and approvals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renewals, quantities, safety/environment conditions and penalties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graph: licence clause to asset/site to owner to deadline to evidence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Intelligence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cockpit with risk heatmaps, audit packs and 24x7 alerts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 diligence for expiring licences, coal shortfall and LD exposure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</a:t>
            </a:r>
            <a:endParaRPr lang="en-US" sz="1050" dirty="0"/>
          </a:p>
          <a:p>
            <a:pPr marL="304800" lvl="1" indent="-15240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validations refine taxonomy, confidence scores and renewal playbooks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12K+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436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Clauses and licence conditions indexed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29184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accuracy target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8932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licence diligence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166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24x7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686800" y="56875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 and penalty alerts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ve_l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4" name="Image 1" descr="/home/claude/assets/aionos_light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AIONOS: An Applied AI Company</a:t>
            </a:r>
            <a:endParaRPr lang="en-US" sz="2400" dirty="0"/>
          </a:p>
        </p:txBody>
      </p:sp>
      <p:pic>
        <p:nvPicPr>
          <p:cNvPr id="3" name="Image 0" descr="/home/claude/assets/aionos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56032"/>
            <a:ext cx="1143000" cy="2862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96112"/>
            <a:ext cx="4160520" cy="384048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8961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TTLH DNA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C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66928" y="15087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187452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and counting, giving us a truly global presence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1417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C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15768" y="15087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715768" y="187452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of aviation and travel tech excellence as part of the InterGlobe Group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72491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C5C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6928" y="2816352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5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2000+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" y="3182112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led technical experts driving impact and innovation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730752"/>
            <a:ext cx="4160520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720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by Leading Global Enterprises</a:t>
            </a:r>
            <a:endParaRPr lang="en-US" sz="1200" dirty="0"/>
          </a:p>
        </p:txBody>
      </p:sp>
      <p:pic>
        <p:nvPicPr>
          <p:cNvPr id="17" name="Image 1" descr="/home/claude/assets/logo_air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6" y="4215384"/>
            <a:ext cx="649948" cy="365760"/>
          </a:xfrm>
          <a:prstGeom prst="rect">
            <a:avLst/>
          </a:prstGeom>
        </p:spPr>
      </p:pic>
      <p:pic>
        <p:nvPicPr>
          <p:cNvPr id="18" name="Image 2" descr="/home/claude/assets/logo_boe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306" y="4215384"/>
            <a:ext cx="806747" cy="365760"/>
          </a:xfrm>
          <a:prstGeom prst="rect">
            <a:avLst/>
          </a:prstGeom>
        </p:spPr>
      </p:pic>
      <p:pic>
        <p:nvPicPr>
          <p:cNvPr id="19" name="Image 3" descr="/home/claude/assets/logo_ind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618" y="4215384"/>
            <a:ext cx="659244" cy="365760"/>
          </a:xfrm>
          <a:prstGeom prst="rect">
            <a:avLst/>
          </a:prstGeom>
        </p:spPr>
      </p:pic>
      <p:pic>
        <p:nvPicPr>
          <p:cNvPr id="20" name="Image 4" descr="/home/claude/assets/logo_saud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964" y="4215384"/>
            <a:ext cx="649672" cy="365760"/>
          </a:xfrm>
          <a:prstGeom prst="rect">
            <a:avLst/>
          </a:prstGeom>
        </p:spPr>
      </p:pic>
      <p:pic>
        <p:nvPicPr>
          <p:cNvPr id="21" name="Image 5" descr="/home/claude/assets/logo_amexgb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" y="4762602"/>
            <a:ext cx="868680" cy="332029"/>
          </a:xfrm>
          <a:prstGeom prst="rect">
            <a:avLst/>
          </a:prstGeom>
        </p:spPr>
      </p:pic>
      <p:pic>
        <p:nvPicPr>
          <p:cNvPr id="22" name="Image 6" descr="/home/claude/assets/logo_ntp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8048" y="4745736"/>
            <a:ext cx="667265" cy="365760"/>
          </a:xfrm>
          <a:prstGeom prst="rect">
            <a:avLst/>
          </a:prstGeom>
        </p:spPr>
      </p:pic>
      <p:pic>
        <p:nvPicPr>
          <p:cNvPr id="23" name="Image 7" descr="/home/claude/assets/logo_iag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4745736"/>
            <a:ext cx="487680" cy="365760"/>
          </a:xfrm>
          <a:prstGeom prst="rect">
            <a:avLst/>
          </a:prstGeom>
        </p:spPr>
      </p:pic>
      <p:pic>
        <p:nvPicPr>
          <p:cNvPr id="24" name="Image 8" descr="/home/claude/assets/logo_acco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9717" y="4745736"/>
            <a:ext cx="450166" cy="365760"/>
          </a:xfrm>
          <a:prstGeom prst="rect">
            <a:avLst/>
          </a:prstGeom>
        </p:spPr>
      </p:pic>
      <p:pic>
        <p:nvPicPr>
          <p:cNvPr id="25" name="Image 9" descr="/home/claude/assets/logo_easemytri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" y="5283302"/>
            <a:ext cx="868680" cy="351333"/>
          </a:xfrm>
          <a:prstGeom prst="rect">
            <a:avLst/>
          </a:prstGeom>
        </p:spPr>
      </p:pic>
      <p:pic>
        <p:nvPicPr>
          <p:cNvPr id="26" name="Image 10" descr="/home/claude/assets/logo_cham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0" y="5276088"/>
            <a:ext cx="365760" cy="365760"/>
          </a:xfrm>
          <a:prstGeom prst="rect">
            <a:avLst/>
          </a:prstGeom>
        </p:spPr>
      </p:pic>
      <p:pic>
        <p:nvPicPr>
          <p:cNvPr id="27" name="Image 11" descr="/home/claude/assets/logo_ennismo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5431" y="5276088"/>
            <a:ext cx="695617" cy="365760"/>
          </a:xfrm>
          <a:prstGeom prst="rect">
            <a:avLst/>
          </a:prstGeom>
        </p:spPr>
      </p:pic>
      <p:pic>
        <p:nvPicPr>
          <p:cNvPr id="28" name="Image 12" descr="/home/claude/assets/logo_noidaair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80460" y="5278594"/>
            <a:ext cx="868680" cy="360748"/>
          </a:xfrm>
          <a:prstGeom prst="rect">
            <a:avLst/>
          </a:prstGeom>
        </p:spPr>
      </p:pic>
      <p:sp>
        <p:nvSpPr>
          <p:cNvPr id="29" name="Shape 14"/>
          <p:cNvSpPr/>
          <p:nvPr/>
        </p:nvSpPr>
        <p:spPr>
          <a:xfrm>
            <a:off x="4892040" y="896112"/>
            <a:ext cx="6839712" cy="384048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5"/>
          <p:cNvSpPr/>
          <p:nvPr/>
        </p:nvSpPr>
        <p:spPr>
          <a:xfrm>
            <a:off x="4892040" y="896112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Leader</a:t>
            </a:r>
            <a:endParaRPr lang="en-US" sz="1300" dirty="0"/>
          </a:p>
        </p:txBody>
      </p:sp>
      <p:pic>
        <p:nvPicPr>
          <p:cNvPr id="31" name="Image 13" descr="/home/claude/assets/world_map_usecases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983480" y="1371600"/>
            <a:ext cx="6675120" cy="3694176"/>
          </a:xfrm>
          <a:prstGeom prst="rect">
            <a:avLst/>
          </a:prstGeom>
        </p:spPr>
      </p:pic>
      <p:sp>
        <p:nvSpPr>
          <p:cNvPr id="32" name="Shape 16"/>
          <p:cNvSpPr/>
          <p:nvPr/>
        </p:nvSpPr>
        <p:spPr>
          <a:xfrm>
            <a:off x="4892040" y="5349240"/>
            <a:ext cx="6839712" cy="365760"/>
          </a:xfrm>
          <a:prstGeom prst="rect">
            <a:avLst/>
          </a:prstGeom>
          <a:solidFill>
            <a:srgbClr val="1665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17"/>
          <p:cNvSpPr/>
          <p:nvPr/>
        </p:nvSpPr>
        <p:spPr>
          <a:xfrm>
            <a:off x="4892040" y="5349240"/>
            <a:ext cx="6839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Ecosystem Partnerships</a:t>
            </a:r>
            <a:endParaRPr lang="en-US" sz="1200" dirty="0"/>
          </a:p>
        </p:txBody>
      </p:sp>
      <p:pic>
        <p:nvPicPr>
          <p:cNvPr id="34" name="Image 14" descr="/home/claude/assets/logo_microsof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0" y="5804747"/>
            <a:ext cx="1389888" cy="295995"/>
          </a:xfrm>
          <a:prstGeom prst="rect">
            <a:avLst/>
          </a:prstGeom>
        </p:spPr>
      </p:pic>
      <p:pic>
        <p:nvPicPr>
          <p:cNvPr id="35" name="Image 15" descr="/home/claude/assets/logo_serviceno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3408" y="5833720"/>
            <a:ext cx="1389888" cy="238047"/>
          </a:xfrm>
          <a:prstGeom prst="rect">
            <a:avLst/>
          </a:prstGeom>
        </p:spPr>
      </p:pic>
      <p:pic>
        <p:nvPicPr>
          <p:cNvPr id="36" name="Image 16" descr="/home/claude/assets/logo_aw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36574" y="5783580"/>
            <a:ext cx="431972" cy="338328"/>
          </a:xfrm>
          <a:prstGeom prst="rect">
            <a:avLst/>
          </a:prstGeom>
        </p:spPr>
      </p:pic>
      <p:pic>
        <p:nvPicPr>
          <p:cNvPr id="37" name="Image 17" descr="/home/claude/assets/logo_salesforc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54730" y="5783580"/>
            <a:ext cx="524077" cy="338328"/>
          </a:xfrm>
          <a:prstGeom prst="rect">
            <a:avLst/>
          </a:prstGeom>
        </p:spPr>
      </p:pic>
      <p:pic>
        <p:nvPicPr>
          <p:cNvPr id="38" name="Image 18" descr="/home/claude/assets/logo_sa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1364" y="6213348"/>
            <a:ext cx="685559" cy="338328"/>
          </a:xfrm>
          <a:prstGeom prst="rect">
            <a:avLst/>
          </a:prstGeom>
        </p:spPr>
      </p:pic>
      <p:pic>
        <p:nvPicPr>
          <p:cNvPr id="39" name="Image 19" descr="/home/claude/assets/logo_googleclou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21271" y="6213348"/>
            <a:ext cx="1334161" cy="338328"/>
          </a:xfrm>
          <a:prstGeom prst="rect">
            <a:avLst/>
          </a:prstGeom>
        </p:spPr>
      </p:pic>
      <p:pic>
        <p:nvPicPr>
          <p:cNvPr id="40" name="Image 20" descr="/home/claude/assets/logo_mongodb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50819" y="6213348"/>
            <a:ext cx="1203481" cy="338328"/>
          </a:xfrm>
          <a:prstGeom prst="rect">
            <a:avLst/>
          </a:prstGeom>
        </p:spPr>
      </p:pic>
      <p:pic>
        <p:nvPicPr>
          <p:cNvPr id="41" name="Image 21" descr="/home/claude/assets/logo_perpetuuiti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21824" y="6235802"/>
            <a:ext cx="1389888" cy="293421"/>
          </a:xfrm>
          <a:prstGeom prst="rect">
            <a:avLst/>
          </a:prstGeom>
        </p:spPr>
      </p:pic>
      <p:sp>
        <p:nvSpPr>
          <p:cNvPr id="42" name="Text 18"/>
          <p:cNvSpPr/>
          <p:nvPr/>
        </p:nvSpPr>
        <p:spPr>
          <a:xfrm>
            <a:off x="11643055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2857</Words>
  <Application>Microsoft Office PowerPoint</Application>
  <PresentationFormat>Widescreen</PresentationFormat>
  <Paragraphs>494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AIONOS x Shell</dc:title>
  <dc:subject>PptxGenJS Presentation</dc:subject>
  <dc:creator>AIONOS</dc:creator>
  <cp:lastModifiedBy>Mayank Kumar</cp:lastModifiedBy>
  <cp:revision>2</cp:revision>
  <dcterms:created xsi:type="dcterms:W3CDTF">2026-07-06T03:50:39Z</dcterms:created>
  <dcterms:modified xsi:type="dcterms:W3CDTF">2026-07-06T08:04:41Z</dcterms:modified>
</cp:coreProperties>
</file>